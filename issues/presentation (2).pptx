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svg+xml;base64,phn2zyb3awr0ad0inziiighlawdodd0inziiihhtbg5zpsjodhrwoi8vd3d3lnczlm9yzy8ymdawl3n2zyigeg1sbnm6egxpbms9imh0dha6ly93d3cudzmub3jnlze5otkvegxpbmsiihhtbdpzcgfjzt0ichjlc2vydmuiig92zxjmbg93psjoawrkzw4ipjxnihryyw5zzm9ybt0idhjhbnnsyxrlkc0yotqgltuyockipjxwyxroigq9ik0zmduunjc4idu5mi4xndmgmzu0ljmymia1otiumtqzttmzmy43mzkgntg0ljy1osazntiundugntg0ljy1ou0zmzmunzm5idu2nc4wocazntiundugnty0lja4ttmzmy43mzkgntqzljuwmsazntiundugntqzljuwmu0zmjqumzg5idu4nc42ntldmzi0ljm4osa1odyumja5idmymy4xmzegntg3ljq2nsazmjeuntgxidu4ny40njugmziwljazidu4ny40njugmze4ljc3mya1odyumja5idmxoc43nzmgntg0ljy1osazmtgunzczidu4my4xmdkgmziwljazidu4ms44ntmgmzixlju4msa1odeuoduzidmymy4xmzegntgxljg1myazmjqumzg5idu4my4xmdkgmzi0ljm4osa1odqunju5wk0zmtuumdm0idu4nc42ntldmze1ljaznca1odyumja5idmxmy43nzygntg3ljq2nsazmtiumji2idu4ny40njugmzewljy3nsa1odcundy1idmwos40mjigntg2ljiwosazmdkundiyidu4nc42ntkgmza5ljqymia1odmumta5idmxmc42nzugntgxljg1myazmtiumji2idu4ms44ntmgmzezljc3nia1odeuoduzidmxns4wmzqgntgzljewosazmtuumdm0idu4nc42ntlattmync4zodkgnty0lja4qzmync4zodkgnty1ljyzidmymy4xmzegnty2ljg4nyazmjeuntgxidu2ni44odcgmziwljazidu2ni44odcgmze4ljc3mya1njuunjmgmze4ljc3mya1njqumdggmze4ljc3mya1njiuntmxidmymc4wmya1njeumjc0idmyms41odegntyxlji3ncazmjmumtmxidu2ms4ynzqgmzi0ljm4osa1njiuntmxidmync4zodkgnty0lja4wk0zmtuumdm0idu2nc4woemzmtuumdm0idu2ns42myazmtmunzc2idu2ni44odcgmzeyljiynia1njyuodg3idmxmc42nzugnty2ljg4nyazmdkundiyidu2ns42myazmdkundiyidu2nc4wocazmdkundiyidu2mi41mzegmzewljy3nsa1njeumjc0idmxmi4ymjygntyxlji3ncazmtmunzc2idu2ms4ynzqgmze1ljaznca1njiuntmxidmxns4wmzqgnty0lja4wk0zmjqumzg5idu0my41mdfdmzi0ljm4osa1nduumduxidmymy4xmzegntq2ljmwnyazmjeuntgxidu0ni4zmdcgmziwljazidu0ni4zmdcgmze4ljc3mya1nduumduxidmxoc43nzmgntqzljuwmsazmtgunzczidu0ms45ntegmziwljazidu0mc42otugmzixlju4msa1ndaunjk1idmymy4xmzegntqwljy5nsazmjqumzg5idu0ms45ntegmzi0ljm4osa1ndmuntaxwk0zmtuumdm0idu0my41mdfdmze1ljaznca1nduumduxidmxmy43nzygntq2ljmwnyazmtiumji2idu0ni4zmdcgmzewljy3nsa1ndyumza3idmwos40mjigntq1lja1msazmdkundiyidu0my41mdegmza5ljqymia1ndeuotuxidmxmc42nzugntqwljy5nsazmtiumji2idu0mc42otugmzezljc3nia1ndaunjk1idmxns4wmzqgntqxljk1msazmtuumdm0idu0my41mdfattm1mi40nsa1nzeuntyyidm1mi40nsa1nzcumtc2ttm1mi40nsa1ntauotg0idm1mi40nsa1ntyuntk2ttmwny41nsa1nzeuntyyidmwny41nsa1nzcumtc2ttmwny41nsa1ntauotg0idmwny41nsa1ntyuntk2ttmwms45mzkgntkylje0myazmdeuotm5idu3ny4xnzygmzu4lja2msa1nzcumtc2idm1oc4wnjegntkylje0m00zntgumdyxidu3ms41njigmzaxljkzosa1nzeuntyyidmwms45mzkgntu2lju5niazntgumdyxidu1ni41otygmzu4lja2msa1nzeuntyywk0zntgumdyxidu1mc45odqgmzaxljkzosa1ntauotg0idmwms45mzkgntm2ljaxnyazntgumdyxiduzni4wmtcgmzu4lja2msa1ntauotg0wiigc3ryb2tlpsijmdawmdawiibmawxspsjub25lii8+pc9npjwvc3znpg==" ContentType="image/svg+xml;base64,phn2zyb3awr0ad0inziiighlawdodd0inziiihhtbg5zpsjodhrwoi8vd3d3lnczlm9yzy8ymdawl3n2zyigeg1sbnm6egxpbms9imh0dha6ly93d3cudzmub3jnlze5otkvegxpbmsiihhtbdpzcgfjzt0ichjlc2vydmuiig92zxjmbg93psjoawrkzw4ipjxnihryyw5zzm9ybt0idhjhbnnsyxrlkc0yotqgltuyockipjxwyxroigq9ik0zmduunjc4idu5mi4xndmgmzu0ljmymia1otiumtqzttmzmy43mzkgntg0ljy1osazntiundugntg0ljy1ou0zmzmunzm5idu2nc4wocazntiundugnty0lja4ttmzmy43mzkgntqzljuwmsazntiundugntqzljuwmu0zmjqumzg5idu4nc42ntldmzi0ljm4osa1odyumja5idmymy4xmzegntg3ljq2nsazmjeuntgxidu4ny40njugmziwljazidu4ny40njugmze4ljc3mya1odyumja5idmxoc43nzmgntg0ljy1osazmtgunzczidu4my4xmdkgmziwljazidu4ms44ntmgmzixlju4msa1odeuoduzidmymy4xmzegntgxljg1myazmjqumzg5idu4my4xmdkgmzi0ljm4osa1odqunju5wk0zmtuumdm0idu4nc42ntldmze1ljaznca1odyumja5idmxmy43nzygntg3ljq2nsazmtiumji2idu4ny40njugmzewljy3nsa1odcundy1idmwos40mjigntg2ljiwosazmdkundiyidu4nc42ntkgmza5ljqymia1odmumta5idmxmc42nzugntgxljg1myazmtiumji2idu4ms44ntmgmzezljc3nia1odeuoduzidmxns4wmzqgntgzljewosazmtuumdm0idu4nc42ntlattmync4zodkgnty0lja4qzmync4zodkgnty1ljyzidmymy4xmzegnty2ljg4nyazmjeuntgxidu2ni44odcgmziwljazidu2ni44odcgmze4ljc3mya1njuunjmgmze4ljc3mya1njqumdggmze4ljc3mya1njiuntmxidmymc4wmya1njeumjc0idmyms41odegntyxlji3ncazmjmumtmxidu2ms4ynzqgmzi0ljm4osa1njiuntmxidmync4zodkgnty0lja4wk0zmtuumdm0idu2nc4woemzmtuumdm0idu2ns42myazmtmunzc2idu2ni44odcgmzeyljiynia1njyuodg3idmxmc42nzugnty2ljg4nyazmdkundiyidu2ns42myazmdkundiyidu2nc4wocazmdkundiyidu2mi41mzegmzewljy3nsa1njeumjc0idmxmi4ymjygntyxlji3ncazmtmunzc2idu2ms4ynzqgmze1ljaznca1njiuntmxidmxns4wmzqgnty0lja4wk0zmjqumzg5idu0my41mdfdmzi0ljm4osa1nduumduxidmymy4xmzegntq2ljmwnyazmjeuntgxidu0ni4zmdcgmziwljazidu0ni4zmdcgmze4ljc3mya1nduumduxidmxoc43nzmgntqzljuwmsazmtgunzczidu0ms45ntegmziwljazidu0mc42otugmzixlju4msa1ndaunjk1idmymy4xmzegntqwljy5nsazmjqumzg5idu0ms45ntegmzi0ljm4osa1ndmuntaxwk0zmtuumdm0idu0my41mdfdmze1ljaznca1nduumduxidmxmy43nzygntq2ljmwnyazmtiumji2idu0ni4zmdcgmzewljy3nsa1ndyumza3idmwos40mjigntq1lja1msazmdkundiyidu0my41mdegmza5ljqymia1ndeuotuxidmxmc42nzugntqwljy5nsazmtiumji2idu0mc42otugmzezljc3nia1ndaunjk1idmxns4wmzqgntqxljk1msazmtuumdm0idu0my41mdfattm1mi40nsa1nzeuntyyidm1mi40nsa1nzcumtc2ttm1mi40nsa1ntauotg0idm1mi40nsa1ntyuntk2ttmwny41nsa1nzeuntyyidmwny41nsa1nzcumtc2ttmwny41nsa1ntauotg0idmwny41nsa1ntyuntk2ttmwms45mzkgntkylje0myazmdeuotm5idu3ny4xnzygmzu4lja2msa1nzcumtc2idm1oc4wnjegntkylje0m00zntgumdyxidu3ms41njigmzaxljkzosa1nzeuntyyidmwms45mzkgntu2lju5niazntgumdyxidu1ni41otygmzu4lja2msa1nzeuntyywk0zntgumdyxidu1mc45odqgmzaxljkzosa1ntauotg0idmwms45mzkgntm2ljaxnyazntgumdyxiduzni4wmtcgmzu4lja2msa1ntauotg0wiigc3ryb2tlpsijmdawmdawiibmawxspsjub25lii8+pc9npjwvc3znpg=="/>
  <Default Extension="svg+xml;base64,phn2zyb3awr0ad0inziiighlawdodd0inziiihhtbg5zpsjodhrwoi8vd3d3lnczlm9yzy8ymdawl3n2zyigeg1sbnm6egxpbms9imh0dha6ly93d3cudzmub3jnlze5otkvegxpbmsiihhtbdpzcgfjzt0ichjlc2vydmuiig92zxjmbg93psjoawrkzw4ipjxnihryyw5zzm9ybt0idhjhbnnsyxrlkc01mdaglte0nskipjxwyxroigq9ik01mjquodk4idiwos4xndignti0ljg5ocaymdiunda4iduymc4wnzggmjayljqwoem1mtcunda1idiwmi40mdggnte1ljm5ncaxotkunzkyiduxns4zotqgmtk3ljexoew1mtuumzk0ide5mc40ntegntewljgyncaxotaunduxqzuwos41ndcgmtkwljq1msa1mdgunzygmtg5lja1nca1mdkundiyide4ny45nkw1mtuundm3ide3oc4wnjjdnte1ljqxmyaxnzcunjixiduxns4zotggmtc3lje3nca1mtuumzk4ide3ni43mjggnte1ljm5ocaxnjmumze3iduyni41mzqgmtuyljuwnya1ndaumdyxide1my4wmzugntuylje0nyaxntmuntegntyylja1osaxnjmumje2idu2mi43nzqgmtc1lji5mya1njmumjq1ide4my4yoca1ntkunzu1ide5mc40nzugntu0lja4niaxotuumdk4tdu1nc4wodygmja5lje0mk01mziunzu1ide3mc4zntqgntq2ljcymyaxnzaumzu0idu0ni43mjmgmtg0ljmymia1mziunzu1ide4nc4zmjigntmyljc1nsaxnzaumzu0wk01mjqunzc4ide3ms4zntignti4ljc2niaxnzeumzuyttuync43nzggmtc1ljm0msa1mjgunzy2ide3ns4zndfnnti0ljc3ocaxnzkumzm0iduyoc43njygmtc5ljmzne01mjqunzc4ide4my4zmjmgnti4ljc2niaxodmumzizttu1mc43mtcgmtcxljm1mia1ntqunzegmtcxljm1mk01ntaunze3ide3ns4zndegntu0ljcxide3ns4zndfnntuwljcxnyaxnzkumzm0idu1nc43msaxnzkumzm0ttu1mc43mtcgmtgzljmymya1ntqunzegmtgzljmym001nduunzmgmtg4ljmxnsa1nduunzmgmtkyljmwne01ndeunzm2ide4oc4zmtugntqxljczniaxotiumza0ttuzny43ndcgmtg4ljmxnsa1mzcunzq3ide5mi4zmdrnntmzljc1ncaxodgumze1iduzmy43ntqgmtkyljmwne01nduunzmgmtyyljm3msa1nduunzmgmty2ljm2nu01ndeunzm2ide2mi4znzegntqxljczniaxnjyumzy1ttuzny43ndcgmtyyljm3msa1mzcunzq3ide2ni4znjvnntmzljc1ncaxnjiumzcxiduzmy43ntqgmty2ljm2nu01ndgunzigmtg4ljmxnsa1mzaunzu4ide4oc4zmtvnnti4ljc2niaxodgumze1iduyoc43njygmty2ljm2nsa1ntaunze3ide2ni4znjugntuwljcxnyaxodgumze1iibzdhjva2u9iimwmdawmdaiigzpbgw9im5vbmuilz48l2c+pc9zdmc+" ContentType="image/svg+xml;base64,phn2zyb3awr0ad0inziiighlawdodd0inziiihhtbg5zpsjodhrwoi8vd3d3lnczlm9yzy8ymdawl3n2zyigeg1sbnm6egxpbms9imh0dha6ly93d3cudzmub3jnlze5otkvegxpbmsiihhtbdpzcgfjzt0ichjlc2vydmuiig92zxjmbg93psjoawrkzw4ipjxnihryyw5zzm9ybt0idhjhbnnsyxrlkc01mdaglte0nskipjxwyxroigq9ik01mjquodk4idiwos4xndignti0ljg5ocaymdiunda4iduymc4wnzggmjayljqwoem1mtcunda1idiwmi40mdggnte1ljm5ncaxotkunzkyiduxns4zotqgmtk3ljexoew1mtuumzk0ide5mc40ntegntewljgyncaxotaunduxqzuwos41ndcgmtkwljq1msa1mdgunzygmtg5lja1nca1mdkundiyide4ny45nkw1mtuundm3ide3oc4wnjjdnte1ljqxmyaxnzcunjixiduxns4zotggmtc3lje3nca1mtuumzk4ide3ni43mjggnte1ljm5ocaxnjmumze3iduyni41mzqgmtuyljuwnya1ndaumdyxide1my4wmzugntuylje0nyaxntmuntegntyylja1osaxnjmumje2idu2mi43nzqgmtc1lji5mya1njmumjq1ide4my4yoca1ntkunzu1ide5mc40nzugntu0lja4niaxotuumdk4tdu1nc4wodygmja5lje0mk01mziunzu1ide3mc4zntqgntq2ljcymyaxnzaumzu0idu0ni43mjmgmtg0ljmymia1mziunzu1ide4nc4zmjigntmyljc1nsaxnzaumzu0wk01mjqunzc4ide3ms4zntignti4ljc2niaxnzeumzuyttuync43nzggmtc1ljm0msa1mjgunzy2ide3ns4zndfnnti0ljc3ocaxnzkumzm0iduyoc43njygmtc5ljmzne01mjqunzc4ide4my4zmjmgnti4ljc2niaxodmumzizttu1mc43mtcgmtcxljm1mia1ntqunzegmtcxljm1mk01ntaunze3ide3ns4zndegntu0ljcxide3ns4zndfnntuwljcxnyaxnzkumzm0idu1nc43msaxnzkumzm0ttu1mc43mtcgmtgzljmymya1ntqunzegmtgzljmym001nduunzmgmtg4ljmxnsa1nduunzmgmtkyljmwne01ndeunzm2ide4oc4zmtugntqxljczniaxotiumza0ttuzny43ndcgmtg4ljmxnsa1mzcunzq3ide5mi4zmdrnntmzljc1ncaxodgumze1iduzmy43ntqgmtkyljmwne01nduunzmgmtyyljm3msa1nduunzmgmty2ljm2nu01ndeunzm2ide2mi4znzegntqxljczniaxnjyumzy1ttuzny43ndcgmtyyljm3msa1mzcunzq3ide2ni4znjvnntmzljc1ncaxnjiumzcxiduzmy43ntqgmty2ljm2nu01ndgunzigmtg4ljmxnsa1mzaunzu4ide4oc4zmtvnnti4ljc2niaxodgumze1iduyoc43njygmty2ljm2nsa1ntaunze3ide2ni4znjugntuwljcxnyaxodgumze1iibzdhjva2u9iimwmdawmdaiigzpbgw9im5vbmuilz48l2c+pc9zdmc+"/>
  <Default Extension="svg+xml;base64,phn2zyb3awr0ad0inziiighlawdodd0inziiihhtbg5zpsjodhrwoi8vd3d3lnczlm9yzy8ymdawl3n2zyigeg1sbnm6egxpbms9imh0dha6ly93d3cudzmub3jnlze5otkvegxpbmsiihhtbdpzcgfjzt0ichjlc2vydmuiig92zxjmbg93psjoawrkzw4ipjxnihryyw5zzm9ybt0idhjhbnnsyxrlkc01mdeglte0nskipjxwyxroigq9ik01mzcgmtuzljaxnia1mzcgmtu4ljyyn001mtcumtu3ide2ms4ymzggntixljeyniaxnjuumja4ttu1mi44nzqgmtk2ljk1nsa1ntyuodqzidiwmc45mjvnntu2ljg0myaxnjeumjm4idu1mi44nzqgmty1ljiwoe01mjeumti2ide5ni45ntugnte3lje1nyaymdauoti1ttu2ns4wnjegmtgxlja4mia1ntkundugmtgxlja4mk01mtquntugmtgxlja4mia1mdguotm5ide4ms4wodjnnti2ljcwosaymdkumtqyidu0ny4zmiaymdkumtqyttu0ny4zmjugmja2ljmznca1ndcumzi1ide5oc44odvdntuzljq1ncaxotuumzizidu1ny41nzggmtg4ljy4idu1ny41nzggmtgxlja3nya1ntcuntc4ide2os43msa1ndgumzy2ide2mc40otkgntm3ide2mc40otkgnti1ljyzncaxnjaundk5iduxni40mjigmty5ljcxiduxni40mjigmtgxlja3nya1mtyundiyide4oc42otqgntiwlju2ide5ns4zndignti2ljcxncaxotguota0tduyni43mtqgmja2ljmzne01mzkumjc1ide5ni4wndggntm0ljy5msaxotyumdq4iduzmy43mtigmtkyljeymkm1mziuotq0ide5ms44otegntmyljiwnsaxoteuntg5iduzms41mtqgmtkxljixnew1mjgumdc3ide5my4ynzqgnti0ljgynyaxotaumdi5iduyni44odygmtg2ljywmkm1mjyuntayide4ns44otygnti2lje5nsaxoduumtq3iduyns45njugmtg0ljm2nuw1mjiumdq4ide4my40mtqgntiylja0ocaxnzgunzu0iduyns45njugmtc3ljgwm0m1mjyumtk1ide3ny4wmjegnti2ljuwmiaxnzyumjcyiduyni44odygmtc1lju2nkw1mjquodi3ide3mi4xmzkgnti4lja3nyaxnjguodk0iduzms41mtqgmtcwljk1nem1mziumja1ide3mc41nzkgntmyljkzosaxnzaumjc3iduzmy43mtigmtcwlja0nkw1mzqunjkxide2ni4xmya1mzkumjc1ide2ni4xmya1ndaumjkzide3mc4wndzdntqxlja2msaxnzaumjcyidu0ms44ide3mc41nzkgntqyljq5msaxnzauotu0tdu0ns45mjggmty4ljg5nca1ndkumtgyide3mi4xmzkgntq3ljeymyaxnzuunty2qzu0ny41mdcgmtc2lji3mia1ndcuode0ide3ny4wmjegntq4lja1ide3ny44mdnmntuxljk2niaxnzgunzu0idu1ms45njygmtgzljqxnca1ndgumdugmtg0ljm2num1ndcuode5ide4ns4xndcgntq3ljuwnyaxoduuodk2idu0ny4xmjmgmtg2ljywmkw1ndkumtgyide5mc4wmjkgntq1ljkyocaxotmumjc0idu0mi40otegmtkxljixnem1ndeuocaxoteuntg5idu0ms4wnjegmtkxljg5msa1ndaumjkzide5mi4xmjjmntm5lji3nsaxotyumdq4wk01mzcgmtc0lja5oem1mzmumtq2ide3nc4wotggntmwljaymsaxnzcumjiyiduzmc4wmjegmtgxlja3nya1mzaumdixide4nc45mzegntmzlje0niaxodgumdu2iduznyaxodgumdu2idu0mc44ntqgmtg4lja1nia1ndmuotg0ide4nc45mzegntqzljk4ncaxodeumdc3idu0my45odqgmtc3ljiymia1ndauodu5ide3nc4wotggntm3ide3nc4wothaiibzdhjva2u9iimwmdawmdaiigzpbgw9im5vbmuilz48l2c+pc9zdmc+" ContentType="image/svg+xml;base64,phn2zyb3awr0ad0inziiighlawdodd0inziiihhtbg5zpsjodhrwoi8vd3d3lnczlm9yzy8ymdawl3n2zyigeg1sbnm6egxpbms9imh0dha6ly93d3cudzmub3jnlze5otkvegxpbmsiihhtbdpzcgfjzt0ichjlc2vydmuiig92zxjmbg93psjoawrkzw4ipjxnihryyw5zzm9ybt0idhjhbnnsyxrlkc01mdeglte0nskipjxwyxroigq9ik01mzcgmtuzljaxnia1mzcgmtu4ljyyn001mtcumtu3ide2ms4ymzggntixljeyniaxnjuumja4ttu1mi44nzqgmtk2ljk1nsa1ntyuodqzidiwmc45mjvnntu2ljg0myaxnjeumjm4idu1mi44nzqgmty1ljiwoe01mjeumti2ide5ni45ntugnte3lje1nyaymdauoti1ttu2ns4wnjegmtgxlja4mia1ntkundugmtgxlja4mk01mtquntugmtgxlja4mia1mdguotm5ide4ms4wodjnnti2ljcwosaymdkumtqyidu0ny4zmiaymdkumtqyttu0ny4zmjugmja2ljmznca1ndcumzi1ide5oc44odvdntuzljq1ncaxotuumzizidu1ny41nzggmtg4ljy4idu1ny41nzggmtgxlja3nya1ntcuntc4ide2os43msa1ndgumzy2ide2mc40otkgntm3ide2mc40otkgnti1ljyzncaxnjaundk5iduxni40mjigmty5ljcxiduxni40mjigmtgxlja3nya1mtyundiyide4oc42otqgntiwlju2ide5ns4zndignti2ljcxncaxotguota0tduyni43mtqgmja2ljmzne01mzkumjc1ide5ni4wndggntm0ljy5msaxotyumdq4iduzmy43mtigmtkyljeymkm1mziuotq0ide5ms44otegntmyljiwnsaxoteuntg5iduzms41mtqgmtkxljixnew1mjgumdc3ide5my4ynzqgnti0ljgynyaxotaumdi5iduyni44odygmtg2ljywmkm1mjyuntayide4ns44otygnti2lje5nsaxoduumtq3iduyns45njugmtg0ljm2nuw1mjiumdq4ide4my40mtqgntiylja0ocaxnzgunzu0iduyns45njugmtc3ljgwm0m1mjyumtk1ide3ny4wmjegnti2ljuwmiaxnzyumjcyiduyni44odygmtc1lju2nkw1mjquodi3ide3mi4xmzkgnti4lja3nyaxnjguodk0iduzms41mtqgmtcwljk1nem1mziumja1ide3mc41nzkgntmyljkzosaxnzaumjc3iduzmy43mtigmtcwlja0nkw1mzqunjkxide2ni4xmya1mzkumjc1ide2ni4xmya1ndaumjkzide3mc4wndzdntqxlja2msaxnzaumjcyidu0ms44ide3mc41nzkgntqyljq5msaxnzauotu0tdu0ns45mjggmty4ljg5nca1ndkumtgyide3mi4xmzkgntq3ljeymyaxnzuunty2qzu0ny41mdcgmtc2lji3mia1ndcuode0ide3ny4wmjegntq4lja1ide3ny44mdnmntuxljk2niaxnzgunzu0idu1ms45njygmtgzljqxnca1ndgumdugmtg0ljm2num1ndcuode5ide4ns4xndcgntq3ljuwnyaxoduuodk2idu0ny4xmjmgmtg2ljywmkw1ndkumtgyide5mc4wmjkgntq1ljkyocaxotmumjc0idu0mi40otegmtkxljixnem1ndeuocaxoteuntg5idu0ms4wnjegmtkxljg5msa1ndaumjkzide5mi4xmjjmntm5lji3nsaxotyumdq4wk01mzcgmtc0lja5oem1mzmumtq2ide3nc4wotggntmwljaymsaxnzcumjiyiduzmc4wmjegmtgxlja3nya1mzaumdixide4nc45mzegntmzlje0niaxodgumdu2iduznyaxodgumdu2idu0mc44ntqgmtg4lja1nia1ndmuotg0ide4nc45mzegntqzljk4ncaxodeumdc3idu0my45odqgmtc3ljiymia1ndauodu5ide3nc4wotggntm3ide3nc4wothaiibzdhjva2u9iimwmdawmdaiigzpbgw9im5vbmuilz48l2c+pc9zdmc+"/>
  <Default Extension="svg+xml;base64,phn2zyb3awr0ad0inziiighlawdodd0inziiihhtbg5zpsjodhrwoi8vd3d3lnczlm9yzy8ymdawl3n2zyigeg1sbnm6egxpbms9imh0dha6ly93d3cudzmub3jnlze5otkvegxpbmsiihhtbdpzcgfjzt0ichjlc2vydmuiig92zxjmbg93psjoawrkzw4ipjxnihryyw5zzm9ybt0idhjhbnnsyxrlkc05mtuglte0nskipjxwyxroigq9ik05ndeunjg4ide4mum5ndeunjg4ide4my41mtkgotm5ljy0nyaxoduuntygotm3ljeyocaxoduuntygotm0ljywosaxoduuntygotmylju2ocaxodmunte5idkzmi41njggmtgxidkzmi41njggmtc4ljq4msa5mzqunja5ide3ni40nca5mzcumti4ide3ni40nca5mzkunjq3ide3ni40nca5ndeunjg4ide3oc40odegotqxljy4ocaxodfaiibzdhjva2u9iimwmdawmdaiigzpbgw9im5vbmuilz48cgf0acbkpsjnotu1ljggmtk0ljq0qzk1ns44ide5ni45ntkgotuzljc1osaxotkgotuxlji0ide5osa5ndgunzixide5osa5ndyunjggmtk2ljk1osa5ndyunjggmtk0ljq0idk0ni42ocaxoteuotixidk0oc43mjegmtg5ljg4idk1ms4yncaxodkuodggotuzljc1osaxodkuodggotu1ljggmtkxljkymsa5ntuuocaxotqundraiibzdhjva2u9iimwmdawmdaiigzpbgw9im5vbmuilz48cgf0acbkpsjnotc5ljmyide4mum5nzkumzigmtk2ljuwoca5njyunzq4idiwos4woca5nteumjqgmja5lja4idkzns43mzigmja5lja4idkymy4xniaxotyunta4idkymy4xniaxodegotizlje2ide2ns40otigotm1ljczmiaxntiuotigotuxlji0ide1mi45mia5njyunzq4ide1mi45mia5nzkumzigmty1ljq5mia5nzkumzigmtgxwiigc3ryb2tlpsijmdawmdawiibmawxspsjub25lii8+phbhdgggzd0ittk1ms4yncaxotkgotuxlji0idiwos4wocigc3ryb2tlpsijmdawmdawiibmawxspsjub25lii8+phbhdgggzd0ittk1ms4yncaxntiuotigotuxlji0ide4os44ocigc3ryb2tlpsijmdawmdawiibmawxspsjub25lii8+phbhdgggzd0ittk2oc4xmzygmty3lju2qzk2oc4xmzygmtcwlja3osa5njyumdk1ide3mi4xmia5njmuntc2ide3mi4xmia5njeumdu3ide3mi4xmia5ntkumde2ide3mc4wnzkgotu5ljaxniaxnjcuntygotu5ljaxniaxnjuumdqxidk2ms4wntcgmtyzidk2my41nzygmtyzidk2ni4wotugmtyzidk2oc4xmzygmty1lja0msa5njgumtm2ide2ny41nloiihn0cm9rzt0iizawmdawmcigzmlsbd0ibm9uzsivpjxwyxroigq9ik05njgumdg4ide2ny41nia5nzuuoteyide2ny41niigc3ryb2tlpsijmdawmdawiibmawxspsjub25lii8+phbhdgggzd0ittkyni41njggmty3lju2idk1os4wmtygmty3lju2iibzdhjva2u9iimwmdawmdaiigzpbgw9im5vbmuilz48cgf0acbkpsjnotyylja4ocaxnjmumjg4qzk1oc42ocaxntuumzy4idk1my44ocaxntmumde2idk1my44ocaxntmumde2iibzdhjva2u9iimwmdawmdaiigzpbgw9im5vbmuilz48cgf0acbkpsjnotuzljg4idiwoc45mzzdotuzljg4idiwoc45mzygotyylju2ocaymdqumtg0idk2ns4xmtigmtg2lja0idk2ns43odqgmtgxlji0idk2ns4xmtigmtc1ljgxnia5njuumteyide3ns44mtygoty0ljk2ocaxnzquntigoty0ljgyncaxnzmumjcyidk2nc42mzigmtcylja3miigc3ryb2tlpsijmdawmdawiibmawxspsjub25lii8+phbhdgggzd0ittk0ms42ncaxodegotc0ljizmiaxodeiihn0cm9rzt0iizawmdawmcigzmlsbd0ibm9uzsivpjxwyxroigq9ik05mjgumjk2ide4msa5mziunty4ide4msigc3ryb2tlpsijmdawmdawiibmawxspsjub25lii8+phbhdgggzd0ittk1ns44ide5nc40nca5nzuuoteyide5nc40ncigc3ryb2tlpsijmdawmdawiibmawxspsjub25lii8+phbhdgggzd0ittkyni42mtygmtk0ljq0idk0ni42ocaxotqundqiihn0cm9rzt0iizawmdawmcigzmlsbd0ibm9uzsivpjxwyxroigq9ik05mzcumzigmtg1lju2qzkzny4zmiaxoduunzuyidkzny4zmiaxoduuotq0idkzny4znjggmtg2lja4oca5mzkuoteyidiwnc4ymzigotq4ljygmja4ljk4nca5ndguniaymdguotg0iibzdhjva2u9iimwmdawmdaiigzpbgw9im5vbmuilz48cgf0acbkpsjnotq4ljy0ocaxntmumdy0qzk0oc42ndggmtuzlja2nca5mzkumdk2ide1ny43mia5mzcunde2ide3ns45mtigotm3ljqxniaxnzuuoteyidkzny40mtygmtc2ljewnca5mzcumzy4ide3ni40odgiihn0cm9rzt0iizawmdawmcigzmlsbd0ibm9uzsivpjwvzz48l3n2zz4=" ContentType="image/svg+xml;base64,phn2zyb3awr0ad0inziiighlawdodd0inziiihhtbg5zpsjodhrwoi8vd3d3lnczlm9yzy8ymdawl3n2zyigeg1sbnm6egxpbms9imh0dha6ly93d3cudzmub3jnlze5otkvegxpbmsiihhtbdpzcgfjzt0ichjlc2vydmuiig92zxjmbg93psjoawrkzw4ipjxnihryyw5zzm9ybt0idhjhbnnsyxrlkc05mtuglte0nskipjxwyxroigq9ik05ndeunjg4ide4mum5ndeunjg4ide4my41mtkgotm5ljy0nyaxoduuntygotm3ljeyocaxoduuntygotm0ljywosaxoduuntygotmylju2ocaxodmunte5idkzmi41njggmtgxidkzmi41njggmtc4ljq4msa5mzqunja5ide3ni40nca5mzcumti4ide3ni40nca5mzkunjq3ide3ni40nca5ndeunjg4ide3oc40odegotqxljy4ocaxodfaiibzdhjva2u9iimwmdawmdaiigzpbgw9im5vbmuilz48cgf0acbkpsjnotu1ljggmtk0ljq0qzk1ns44ide5ni45ntkgotuzljc1osaxotkgotuxlji0ide5osa5ndgunzixide5osa5ndyunjggmtk2ljk1osa5ndyunjggmtk0ljq0idk0ni42ocaxoteuotixidk0oc43mjegmtg5ljg4idk1ms4yncaxodkuodggotuzljc1osaxodkuodggotu1ljggmtkxljkymsa5ntuuocaxotqundraiibzdhjva2u9iimwmdawmdaiigzpbgw9im5vbmuilz48cgf0acbkpsjnotc5ljmyide4mum5nzkumzigmtk2ljuwoca5njyunzq4idiwos4woca5nteumjqgmja5lja4idkzns43mzigmja5lja4idkymy4xniaxotyunta4idkymy4xniaxodegotizlje2ide2ns40otigotm1ljczmiaxntiuotigotuxlji0ide1mi45mia5njyunzq4ide1mi45mia5nzkumzigmty1ljq5mia5nzkumzigmtgxwiigc3ryb2tlpsijmdawmdawiibmawxspsjub25lii8+phbhdgggzd0ittk1ms4yncaxotkgotuxlji0idiwos4wocigc3ryb2tlpsijmdawmdawiibmawxspsjub25lii8+phbhdgggzd0ittk1ms4yncaxntiuotigotuxlji0ide4os44ocigc3ryb2tlpsijmdawmdawiibmawxspsjub25lii8+phbhdgggzd0ittk2oc4xmzygmty3lju2qzk2oc4xmzygmtcwlja3osa5njyumdk1ide3mi4xmia5njmuntc2ide3mi4xmia5njeumdu3ide3mi4xmia5ntkumde2ide3mc4wnzkgotu5ljaxniaxnjcuntygotu5ljaxniaxnjuumdqxidk2ms4wntcgmtyzidk2my41nzygmtyzidk2ni4wotugmtyzidk2oc4xmzygmty1lja0msa5njgumtm2ide2ny41nloiihn0cm9rzt0iizawmdawmcigzmlsbd0ibm9uzsivpjxwyxroigq9ik05njgumdg4ide2ny41nia5nzuuoteyide2ny41niigc3ryb2tlpsijmdawmdawiibmawxspsjub25lii8+phbhdgggzd0ittkyni41njggmty3lju2idk1os4wmtygmty3lju2iibzdhjva2u9iimwmdawmdaiigzpbgw9im5vbmuilz48cgf0acbkpsjnotyylja4ocaxnjmumjg4qzk1oc42ocaxntuumzy4idk1my44ocaxntmumde2idk1my44ocaxntmumde2iibzdhjva2u9iimwmdawmdaiigzpbgw9im5vbmuilz48cgf0acbkpsjnotuzljg4idiwoc45mzzdotuzljg4idiwoc45mzygotyylju2ocaymdqumtg0idk2ns4xmtigmtg2lja0idk2ns43odqgmtgxlji0idk2ns4xmtigmtc1ljgxnia5njuumteyide3ns44mtygoty0ljk2ocaxnzquntigoty0ljgyncaxnzmumjcyidk2nc42mzigmtcylja3miigc3ryb2tlpsijmdawmdawiibmawxspsjub25lii8+phbhdgggzd0ittk0ms42ncaxodegotc0ljizmiaxodeiihn0cm9rzt0iizawmdawmcigzmlsbd0ibm9uzsivpjxwyxroigq9ik05mjgumjk2ide4msa5mziunty4ide4msigc3ryb2tlpsijmdawmdawiibmawxspsjub25lii8+phbhdgggzd0ittk1ns44ide5nc40nca5nzuuoteyide5nc40ncigc3ryb2tlpsijmdawmdawiibmawxspsjub25lii8+phbhdgggzd0ittkyni42mtygmtk0ljq0idk0ni42ocaxotqundqiihn0cm9rzt0iizawmdawmcigzmlsbd0ibm9uzsivpjxwyxroigq9ik05mzcumzigmtg1lju2qzkzny4zmiaxoduunzuyidkzny4zmiaxoduuotq0idkzny4znjggmtg2lja4oca5mzkuoteyidiwnc4ymzigotq4ljygmja4ljk4nca5ndguniaymdguotg0iibzdhjva2u9iimwmdawmdaiigzpbgw9im5vbmuilz48cgf0acbkpsjnotq4ljy0ocaxntmumdy0qzk0oc42ndggmtuzlja2nca5mzkumdk2ide1ny43mia5mzcunde2ide3ns45mtigotm3ljqxniaxnzuuoteyidkzny40mtygmtc2ljewnca5mzcumzy4ide3ni40odgiihn0cm9rzt0iizawmdawmcigzmlsbd0ibm9uzsivpjwvzz48l3n2zz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00000"/>
                </a:solidFill>
                <a:latin typeface="Arial"/>
              </a:defRPr>
            </a:pPr>
            <a:r>
              <a:rPr sz="1200" b="1" i="0" u="none" strike="noStrike">
                <a:solidFill>
                  <a:srgbClr val="000000"/>
                </a:solidFill>
                <a:latin typeface="Arial"/>
              </a:rPr>
              <a:t>IT Power Capacity (MW)</a:t>
            </a:r>
          </a:p>
        </c:rich>
      </c:tx>
      <c:layout>
        <c:manualLayout>
          <c:xMode val="edge"/>
          <c:yMode val="edge"/>
          <c:x val="0.007688"/>
          <c:y val="0.0125"/>
        </c:manualLayout>
      </c:layout>
      <c:overlay val="0"/>
    </c:title>
    <c:autoTitleDeleted val="0"/>
    <c:plotArea>
      <c:layout/>
      <c:barChart>
        <c:barDir val="col"/>
        <c:grouping val="clustered"/>
        <c:varyColors val="0"/>
        <c:ser>
          <c:idx val="0"/>
          <c:order val="0"/>
          <c:tx>
            <c:strRef>
              <c:f>Sheet1!$B$1</c:f>
              <c:strCache>
                <c:ptCount val="1"/>
                <c:pt idx="0">
                  <c:v>IT Power Capacity (MW)</c:v>
                </c:pt>
              </c:strCache>
            </c:strRef>
          </c:tx>
          <c:spPr>
            <a:solidFill>
              <a:srgbClr val="006D8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6D89"/>
              </a:solidFill>
              <a:effectLst/>
            </c:spPr>
          </c:dPt>
          <c:dPt>
            <c:idx val="1"/>
            <c:invertIfNegative val="0"/>
            <c:bubble3D val="0"/>
            <c:spPr>
              <a:solidFill>
                <a:srgbClr val="DC7900"/>
              </a:solidFill>
              <a:effectLst/>
            </c:spPr>
          </c:dPt>
          <c:cat>
            <c:multiLvlStrRef>
              <c:f>Sheet1!$A$2:$A$3</c:f>
              <c:multiLvlStrCache>
                <c:ptCount val="2"/>
                <c:lvl>
                  <c:pt idx="0">
                    <c:v>2024 Current</c:v>
                  </c:pt>
                  <c:pt idx="1">
                    <c:v>2030 Projected</c:v>
                  </c:pt>
                </c:lvl>
              </c:multiLvlStrCache>
            </c:multiLvlStrRef>
          </c:cat>
          <c:val>
            <c:numRef>
              <c:f>Sheet1!$B$2:$B$3</c:f>
              <c:numCache>
                <c:formatCode>General</c:formatCode>
                <c:ptCount val="2"/>
                <c:pt idx="0">
                  <c:v>222</c:v>
                </c:pt>
                <c:pt idx="1">
                  <c:v>982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A6A6A6"/>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00000"/>
                </a:solidFill>
                <a:latin typeface="Arial"/>
              </a:defRPr>
            </a:pPr>
            <a:r>
              <a:rPr sz="1200" b="1" i="0" u="none" strike="noStrike">
                <a:solidFill>
                  <a:srgbClr val="000000"/>
                </a:solidFill>
                <a:latin typeface="Arial"/>
              </a:rPr>
              <a:t>Foreign Direct Investment ($B)</a:t>
            </a:r>
          </a:p>
        </c:rich>
      </c:tx>
      <c:layout>
        <c:manualLayout>
          <c:xMode val="edge"/>
          <c:yMode val="edge"/>
          <c:x val="0.010454580000000002"/>
          <c:y val="0.038088"/>
        </c:manualLayout>
      </c:layout>
      <c:overlay val="0"/>
    </c:title>
    <c:autoTitleDeleted val="0"/>
    <c:plotArea>
      <c:layout/>
      <c:barChart>
        <c:barDir val="col"/>
        <c:grouping val="clustered"/>
        <c:varyColors val="0"/>
        <c:ser>
          <c:idx val="0"/>
          <c:order val="0"/>
          <c:tx>
            <c:strRef>
              <c:f>Sheet1!$B$1</c:f>
              <c:strCache>
                <c:ptCount val="1"/>
                <c:pt idx="0">
                  <c:v>Foreign Direct Investment ($B)</c:v>
                </c:pt>
              </c:strCache>
            </c:strRef>
          </c:tx>
          <c:spPr>
            <a:solidFill>
              <a:srgbClr val="006D8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6D89"/>
              </a:solidFill>
              <a:effectLst/>
            </c:spPr>
          </c:dPt>
          <c:dPt>
            <c:idx val="1"/>
            <c:invertIfNegative val="0"/>
            <c:bubble3D val="0"/>
            <c:spPr>
              <a:solidFill>
                <a:srgbClr val="DC7900"/>
              </a:solidFill>
              <a:effectLst/>
            </c:spPr>
          </c:dPt>
          <c:cat>
            <c:multiLvlStrRef>
              <c:f>Sheet1!$A$2:$A$3</c:f>
              <c:multiLvlStrCache>
                <c:ptCount val="2"/>
                <c:lvl>
                  <c:pt idx="0">
                    <c:v>2020</c:v>
                  </c:pt>
                  <c:pt idx="1">
                    <c:v>2024</c:v>
                  </c:pt>
                </c:lvl>
              </c:multiLvlStrCache>
            </c:multiLvlStrRef>
          </c:cat>
          <c:val>
            <c:numRef>
              <c:f>Sheet1!$B$2:$B$3</c:f>
              <c:numCache>
                <c:formatCode>General</c:formatCode>
                <c:ptCount val="2"/>
                <c:pt idx="0">
                  <c:v>5.3</c:v>
                </c:pt>
                <c:pt idx="1">
                  <c:v>31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A6A6A6"/>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4A897E6B-35D4-4C59-9667-9E94DFC5B117}" type="datetimeFigureOut">
              <a:rPr lang="en-US" smtClean="0"/>
              <a:t>12/29/2025</a:t>
            </a:fld>
            <a:endParaRPr lang="en-US"/>
          </a:p>
        </p:txBody>
      </p:sp>
      <p:sp>
        <p:nvSpPr>
          <p:cNvPr id="4" name="Slide Image Placeholder 3"/>
          <p:cNvSpPr>
            <a:spLocks noGrp="1" noRot="1" noChangeAspect="1"/>
          </p:cNvSpPr>
          <p:nvPr>
            <p:ph type="sldImg" idx="2"/>
          </p:nvPr>
        </p:nvSpPr>
        <p:spPr>
          <a:xfrm>
            <a:off x="23813" y="647700"/>
            <a:ext cx="5634037" cy="3168650"/>
          </a:xfrm>
          <a:prstGeom prst="rect">
            <a:avLst/>
          </a:prstGeom>
          <a:noFill/>
          <a:ln w="12700">
            <a:solidFill>
              <a:schemeClr val="bg2"/>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3931424"/>
            <a:ext cx="5681980" cy="428349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9368AB29-FD65-43D1-A0D5-6E5DEB6A130C}" type="slidenum">
              <a:rPr lang="en-US" smtClean="0"/>
              <a:t>‹#›</a:t>
            </a:fld>
            <a:endParaRPr lang="en-US"/>
          </a:p>
        </p:txBody>
      </p:sp>
    </p:spTree>
    <p:extLst>
      <p:ext uri="{BB962C8B-B14F-4D97-AF65-F5344CB8AC3E}">
        <p14:creationId xmlns:p14="http://schemas.microsoft.com/office/powerpoint/2010/main" val="573470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title slide introduces Saudi Arabia's data center market analysis as part of S&amp;P Global's Look Forward series. The presentation focuses on the kingdom's digital transformation strategy aligned with Vision 2030, highlighting the explosive growth in data center infrastructure and its role in economic diversification. The Right Banner Image should showcase modern data center infrastructure or Saudi Arabia's technological advancement, representing the fusion of traditional economic power with cutting-edge digital infrastructure. This slide sets the stage for a comprehensive analysis of market dynamics, competitive landscape, strategic advantages, and future outlook in Saudi Arabia's rapidly evolving data center sector. Source: S&amp;P Global Market Intelligence | Web sources: https://www.spglobal.com/en/research-insights/special-reports/look-forward/data-center-frontiers/saudi-arabia-data-center-market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executive summary of Saudi Arabia's data center market transformation, emphasizing the explosive 29% CAGR growth and massive capacity expansion plans. The chart visualizes the dramatic increase from current 222 MW to projected 982 MW total capacity by 2030 (222 MW current + 760 MW planned additions). Key talking points include Vision 2030 as the strategic catalyst driving this growth, the role of data centers in economic diversification away from oil dependence, and Saudi Arabia's positioning as a regional digital powerhouse. The speaker should emphasize how this growth trajectory reflects the kingdom's commitment to becoming a technology hub and the scale of investment required to achieve these ambitious targets. The data demonstrates not just growth but transformation at a national economic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analyzes the competitive landscape of Saudi Arabia's data center market, highlighting the mix of established operators and emerging players reshaping the industry. The speaker should emphasize how Humain, as a state-backed entity, represents a game-changing force with its ambitious target of capturing 6% of global AI workload and reaching 6.6 GW capacity by 2034. Key talking points include the evolution from traditional data center operators like Center3, Damac Data Centers, and Quantum Switch Tamasuk to innovative newcomers like DataVolt and ZeroPoint DC. The geographic concentration in three major cities - Riyadh, Dammam, and Jeddah - creates strategic advantages for connectivity and market access. The icons should represent: 1) Established players (building/infrastructure icon), 2) Emerging players (innovation/growth icon), 3) Humain's dominance (AI/technology icon), and 4) Geographic distribution (location/map icon). This competitive dynamic shows how Saudi Arabia is building a comprehensive ecosystem rather than relying on single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Saudi Arabia's strategic advantages in attracting global hyperscalers through abundant energy resources and favorable investment climate. The chart dramatically illustrates the nearly 6x increase in foreign direct investment from $5.3B in 2020 to $31B in 2024, demonstrating growing international confidence. Key talking points include the kingdom's energy capacity exceeding 400 TWh annually with reliable supply infrastructure, crucial for power-intensive data center operations. The speaker should emphasize regulatory reforms enabling 100% foreign ownership and profit repatriation, removing traditional barriers to international investment. Vision 2030's renewable energy target of 50% by 2030 addresses sustainability concerns while Special Economic Zones provide additional incentives. These advantages position Saudi Arabia competitively against other regional markets, offering both the energy security and investment framework necessary for large-scale data center development. The combination of abundant energy, policy reforms, and growing FDI creates a compelling value proposition for global technology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concluding slide presents Saudi Arabia's global partnerships and future outlook, demonstrating how major technology investments signal the kingdom's emergence as a regional technology hub. The speaker should emphasize the significance of hyperscaler commitments, with AWS launching in 2026, Microsoft deploying 3 data centers, and Oracle establishing presence in both Jeddah and Riyadh regions, providing comprehensive cloud infrastructure coverage. The NVIDIA partnership represents a transformative $10B investment featuring 18,000 Blackwell chips and 500 MW capacity, positioning Saudi Arabia at the forefront of AI workload processing. However, the speaker must address sustainability challenges, particularly water constraints with 15B liters used in 2024, infrastructure scaling requirements, and evolving regulatory frameworks. The icons should represent: 1) Hyperscaler partnerships (cloud/network icon), 2) AI investment and technology (AI/chip icon), and 3) Sustainability challenges (water/environment icon). This balanced view shows both the tremendous opportunities and the critical challenges that must be managed to sustain growth and achieve market leadership in the regional data center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001-1.pn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17-1.png"/><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18-1.png"/><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19-1.png"/><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20-1.png"/><Relationship Id="rId2"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1022-1.png"/><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23-1.png"/><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24-1.png"/><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25-1.png"/><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27-1.png"/><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28-1.png"/><Relationship Id="rId2"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29-1.png"/><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31-1.png"/><Relationship Id="rId2"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32-1.png"/><Relationship Id="rId2"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33-1.png"/><Relationship Id="rId2"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image" Target="../media/image-1034-1.png"/><Relationship Id="rId2"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image" Target="../media/image-1036-1.png"/><Relationship Id="rId2"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image" Target="../media/image-1037-1.png"/><Relationship Id="rId2"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image" Target="../media/image-1038-1.png"/><Relationship Id="rId2"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image" Target="../media/image-1039-1.png"/><Relationship Id="rId2"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image" Target="../media/image-1040-1.png"/><Relationship Id="rId2"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image" Target="../media/image-1042-1.png"/><Relationship Id="rId2"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image" Target="../media/image-1043-1.png"/><Relationship Id="rId2"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image" Target="../media/image-1044-1.png"/><Relationship Id="rId2"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image" Target="../media/image-1045-1.png"/><Relationship Id="rId2"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image" Target="../media/image-1046-1.png"/><Relationship Id="rId2"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image" Target="../media/image-1047-1.png"/><Relationship Id="rId2"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image" Target="../media/image-1048-1.png"/><Relationship Id="rId2"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image" Target="../media/image-1049-1.png"/><Relationship Id="rId2"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image" Target="../media/image-1051-1.png"/><Relationship Id="rId2"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image" Target="../media/image-1052-1.png"/><Relationship Id="rId2"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image" Target="../media/image-1053-1.png"/><Relationship Id="rId2"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image" Target="../media/image-1055-1.png"/><Relationship Id="rId2"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image" Target="../media/image-1056-1.png"/><Relationship Id="rId2"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image" Target="../media/image-1057-1.png"/><Relationship Id="rId2"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image" Target="../media/image-1058-1.png"/><Relationship Id="rId2"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image" Target="../media/image-1060-1.png"/><Relationship Id="rId2"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 no subtitl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1261872"/>
            <a:ext cx="1106424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7" name="Text 1"/>
          <p:cNvSpPr/>
          <p:nvPr>
            <p:ph idx="105"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8" name="Text 1"/>
          <p:cNvSpPr/>
          <p:nvPr>
            <p:ph idx="106"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w/Sub-headlin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1106424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9" name="Text 1"/>
          <p:cNvSpPr/>
          <p:nvPr>
            <p:ph idx="107"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w 2 Line Title and Sub-headlin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82296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two lines max]</a:t>
            </a:r>
            <a:endParaRPr lang="en-US" sz="2400" dirty="0"/>
          </a:p>
        </p:txBody>
      </p:sp>
      <p:sp>
        <p:nvSpPr>
          <p:cNvPr id="6" name="Text 1"/>
          <p:cNvSpPr/>
          <p:nvPr>
            <p:ph idx="104" type="body" hasCustomPrompt="1"/>
          </p:nvPr>
        </p:nvSpPr>
        <p:spPr>
          <a:xfrm>
            <a:off x="566928" y="1271016"/>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636776"/>
            <a:ext cx="11064240" cy="3959352"/>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9" name="Text 1"/>
          <p:cNvSpPr/>
          <p:nvPr>
            <p:ph idx="107"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left content]</a:t>
            </a:r>
            <a:endParaRPr lang="en-US" sz="1200" dirty="0"/>
          </a:p>
        </p:txBody>
      </p:sp>
      <p:sp>
        <p:nvSpPr>
          <p:cNvPr id="8" name="Text 1"/>
          <p:cNvSpPr/>
          <p:nvPr>
            <p:ph idx="106" type="body" hasCustomPrompt="1"/>
          </p:nvPr>
        </p:nvSpPr>
        <p:spPr>
          <a:xfrm>
            <a:off x="660196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right content]</a:t>
            </a:r>
            <a:endParaRPr lang="en-US" sz="1200" dirty="0"/>
          </a:p>
        </p:txBody>
      </p:sp>
      <p:sp>
        <p:nvSpPr>
          <p:cNvPr id="9" name="Text 1"/>
          <p:cNvSpPr/>
          <p:nvPr>
            <p:ph idx="107"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 Subtitle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71016"/>
            <a:ext cx="502920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[Left subtitle]</a:t>
            </a:r>
            <a:endParaRPr lang="en-US" sz="1800" dirty="0"/>
          </a:p>
        </p:txBody>
      </p:sp>
      <p:sp>
        <p:nvSpPr>
          <p:cNvPr id="8" name="Text 1"/>
          <p:cNvSpPr/>
          <p:nvPr>
            <p:ph idx="106" type="body" hasCustomPrompt="1"/>
          </p:nvPr>
        </p:nvSpPr>
        <p:spPr>
          <a:xfrm>
            <a:off x="566928" y="1645920"/>
            <a:ext cx="5029200" cy="3913632"/>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left content]</a:t>
            </a:r>
            <a:endParaRPr lang="en-US" sz="1200" dirty="0"/>
          </a:p>
        </p:txBody>
      </p:sp>
      <p:sp>
        <p:nvSpPr>
          <p:cNvPr id="9" name="Text 1"/>
          <p:cNvSpPr/>
          <p:nvPr>
            <p:ph idx="107" type="body" hasCustomPrompt="1"/>
          </p:nvPr>
        </p:nvSpPr>
        <p:spPr>
          <a:xfrm>
            <a:off x="6601968" y="1271016"/>
            <a:ext cx="502920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[Right subtitle]</a:t>
            </a:r>
            <a:endParaRPr lang="en-US" sz="1800" dirty="0"/>
          </a:p>
        </p:txBody>
      </p:sp>
      <p:sp>
        <p:nvSpPr>
          <p:cNvPr id="10" name="Text 1"/>
          <p:cNvSpPr/>
          <p:nvPr>
            <p:ph idx="108" type="body" hasCustomPrompt="1"/>
          </p:nvPr>
        </p:nvSpPr>
        <p:spPr>
          <a:xfrm>
            <a:off x="6601968" y="1645920"/>
            <a:ext cx="5029200" cy="3913632"/>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right content]</a:t>
            </a:r>
            <a:endParaRPr lang="en-US" sz="1200" dirty="0"/>
          </a:p>
        </p:txBody>
      </p:sp>
      <p:sp>
        <p:nvSpPr>
          <p:cNvPr id="11" name="Text 1"/>
          <p:cNvSpPr/>
          <p:nvPr>
            <p:ph idx="109"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2" name="Text 1"/>
          <p:cNvSpPr/>
          <p:nvPr>
            <p:ph idx="110"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4 Colum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2560320"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8" name="Text 1"/>
          <p:cNvSpPr/>
          <p:nvPr>
            <p:ph idx="106" type="body" hasCustomPrompt="1"/>
          </p:nvPr>
        </p:nvSpPr>
        <p:spPr>
          <a:xfrm>
            <a:off x="566928" y="1801368"/>
            <a:ext cx="2560320"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9" name="Text 1"/>
          <p:cNvSpPr/>
          <p:nvPr>
            <p:ph idx="107" type="body" hasCustomPrompt="1"/>
          </p:nvPr>
        </p:nvSpPr>
        <p:spPr>
          <a:xfrm>
            <a:off x="3392424" y="1261872"/>
            <a:ext cx="2560320"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0" name="Text 1"/>
          <p:cNvSpPr/>
          <p:nvPr>
            <p:ph idx="108" type="body" hasCustomPrompt="1"/>
          </p:nvPr>
        </p:nvSpPr>
        <p:spPr>
          <a:xfrm>
            <a:off x="3392424" y="1801368"/>
            <a:ext cx="2560320"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1" name="Text 1"/>
          <p:cNvSpPr/>
          <p:nvPr>
            <p:ph idx="109" type="body" hasCustomPrompt="1"/>
          </p:nvPr>
        </p:nvSpPr>
        <p:spPr>
          <a:xfrm>
            <a:off x="6236208" y="1261872"/>
            <a:ext cx="2560320"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2" name="Text 1"/>
          <p:cNvSpPr/>
          <p:nvPr>
            <p:ph idx="110" type="body" hasCustomPrompt="1"/>
          </p:nvPr>
        </p:nvSpPr>
        <p:spPr>
          <a:xfrm>
            <a:off x="6236208" y="1801368"/>
            <a:ext cx="2560320"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3" name="Text 1"/>
          <p:cNvSpPr/>
          <p:nvPr>
            <p:ph idx="111" type="body" hasCustomPrompt="1"/>
          </p:nvPr>
        </p:nvSpPr>
        <p:spPr>
          <a:xfrm>
            <a:off x="9070848" y="1261872"/>
            <a:ext cx="2560320"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4" name="Text 1"/>
          <p:cNvSpPr/>
          <p:nvPr>
            <p:ph idx="112" type="body" hasCustomPrompt="1"/>
          </p:nvPr>
        </p:nvSpPr>
        <p:spPr>
          <a:xfrm>
            <a:off x="9070848" y="1801368"/>
            <a:ext cx="2560320"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5" name="Text 1"/>
          <p:cNvSpPr/>
          <p:nvPr>
            <p:ph idx="113"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6" name="Text 1"/>
          <p:cNvSpPr/>
          <p:nvPr>
            <p:ph idx="114"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5 Colum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2039112"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8" name="Text 1"/>
          <p:cNvSpPr/>
          <p:nvPr>
            <p:ph idx="106" type="body" hasCustomPrompt="1"/>
          </p:nvPr>
        </p:nvSpPr>
        <p:spPr>
          <a:xfrm>
            <a:off x="566928" y="1801368"/>
            <a:ext cx="2039112"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9" name="Text 1"/>
          <p:cNvSpPr/>
          <p:nvPr>
            <p:ph idx="107" type="body" hasCustomPrompt="1"/>
          </p:nvPr>
        </p:nvSpPr>
        <p:spPr>
          <a:xfrm>
            <a:off x="2816352" y="1261872"/>
            <a:ext cx="2039112"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0" name="Text 1"/>
          <p:cNvSpPr/>
          <p:nvPr>
            <p:ph idx="108" type="body" hasCustomPrompt="1"/>
          </p:nvPr>
        </p:nvSpPr>
        <p:spPr>
          <a:xfrm>
            <a:off x="2816352" y="1801368"/>
            <a:ext cx="2039112"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1" name="Text 1"/>
          <p:cNvSpPr/>
          <p:nvPr>
            <p:ph idx="109" type="body" hasCustomPrompt="1"/>
          </p:nvPr>
        </p:nvSpPr>
        <p:spPr>
          <a:xfrm>
            <a:off x="4992624" y="1225296"/>
            <a:ext cx="2221992" cy="58521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2" name="Text 1"/>
          <p:cNvSpPr/>
          <p:nvPr>
            <p:ph idx="110" type="body" hasCustomPrompt="1"/>
          </p:nvPr>
        </p:nvSpPr>
        <p:spPr>
          <a:xfrm>
            <a:off x="5074920" y="1801368"/>
            <a:ext cx="2039112"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3" name="Text 1"/>
          <p:cNvSpPr/>
          <p:nvPr>
            <p:ph idx="111" type="body" hasCustomPrompt="1"/>
          </p:nvPr>
        </p:nvSpPr>
        <p:spPr>
          <a:xfrm>
            <a:off x="7333488" y="1261872"/>
            <a:ext cx="2039112"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4" name="Text 1"/>
          <p:cNvSpPr/>
          <p:nvPr>
            <p:ph idx="112" type="body" hasCustomPrompt="1"/>
          </p:nvPr>
        </p:nvSpPr>
        <p:spPr>
          <a:xfrm>
            <a:off x="7333488" y="1801368"/>
            <a:ext cx="2039112"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5" name="Text 1"/>
          <p:cNvSpPr/>
          <p:nvPr>
            <p:ph idx="113" type="body" hasCustomPrompt="1"/>
          </p:nvPr>
        </p:nvSpPr>
        <p:spPr>
          <a:xfrm>
            <a:off x="9592056" y="1261872"/>
            <a:ext cx="2039112" cy="4937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[subtitle5]</a:t>
            </a:r>
            <a:endParaRPr lang="en-US" sz="1600" dirty="0"/>
          </a:p>
        </p:txBody>
      </p:sp>
      <p:sp>
        <p:nvSpPr>
          <p:cNvPr id="16" name="Text 1"/>
          <p:cNvSpPr/>
          <p:nvPr>
            <p:ph idx="114" type="body" hasCustomPrompt="1"/>
          </p:nvPr>
        </p:nvSpPr>
        <p:spPr>
          <a:xfrm>
            <a:off x="9592056" y="1801368"/>
            <a:ext cx="2039112" cy="379476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[content5]</a:t>
            </a:r>
            <a:endParaRPr lang="en-US" sz="1200" dirty="0"/>
          </a:p>
        </p:txBody>
      </p:sp>
      <p:sp>
        <p:nvSpPr>
          <p:cNvPr id="17" name="Text 1"/>
          <p:cNvSpPr/>
          <p:nvPr>
            <p:ph idx="115"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8" name="Text 1"/>
          <p:cNvSpPr/>
          <p:nvPr>
            <p:ph idx="116"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Sidebar">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7315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8394192" y="1261872"/>
            <a:ext cx="3236976" cy="4343400"/>
          </a:xfrm>
          <a:prstGeom prst="rect">
            <a:avLst/>
          </a:prstGeom>
          <a:noFill/>
          <a:ln/>
        </p:spPr>
        <p:txBody>
          <a:bodyPr wrap="square" rtlCol="0"/>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9" name="Text 1"/>
          <p:cNvSpPr/>
          <p:nvPr>
            <p:ph idx="107"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8" name="Text 1"/>
          <p:cNvSpPr/>
          <p:nvPr>
            <p:ph idx="106"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 Image/Ic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48" y="0"/>
            <a:ext cx="6099048" cy="6858000"/>
          </a:xfrm>
          <a:prstGeom prst="rect">
            <a:avLst/>
          </a:prstGeom>
          <a:solidFill>
            <a:srgbClr val="C7DAE0"/>
          </a:solidFill>
          <a:ln w="12700">
            <a:solidFill>
              <a:srgbClr val="C7DAE0"/>
            </a:solidFill>
            <a:prstDash val="solid"/>
          </a:ln>
        </p:spPr>
      </p:sp>
      <p:sp>
        <p:nvSpPr>
          <p:cNvPr id="3" name="Text 1"/>
          <p:cNvSpPr/>
          <p:nvPr>
            <p:ph idx="101" hasCustomPrompt="1"/>
          </p:nvPr>
        </p:nvSpPr>
        <p:spPr>
          <a:xfrm>
            <a:off x="6611112" y="649224"/>
            <a:ext cx="5029200" cy="5559552"/>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4"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5" name="Text 1"/>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6" name="Text 2"/>
          <p:cNvSpPr/>
          <p:nvPr>
            <p:ph idx="104"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7" name="Text 2"/>
          <p:cNvSpPr/>
          <p:nvPr>
            <p:ph idx="105" type="title" hasCustomPrompt="1"/>
          </p:nvPr>
        </p:nvSpPr>
        <p:spPr>
          <a:xfrm>
            <a:off x="566928" y="347472"/>
            <a:ext cx="502920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8" name="Text 2"/>
          <p:cNvSpPr/>
          <p:nvPr>
            <p:ph idx="106" type="body" hasCustomPrompt="1"/>
          </p:nvPr>
        </p:nvSpPr>
        <p:spPr>
          <a:xfrm>
            <a:off x="566928" y="896112"/>
            <a:ext cx="502920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9" name="Text 2"/>
          <p:cNvSpPr/>
          <p:nvPr>
            <p:ph idx="107"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2"/>
          <p:cNvSpPr/>
          <p:nvPr>
            <p:ph idx="10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2"/>
          <p:cNvSpPr/>
          <p:nvPr>
            <p:ph idx="109" type="body" hasCustomPrompt="1"/>
          </p:nvPr>
        </p:nvSpPr>
        <p:spPr>
          <a:xfrm>
            <a:off x="566928" y="5687568"/>
            <a:ext cx="502920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 Photo White">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6611112" y="0"/>
            <a:ext cx="5577840"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3"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5" name="Text 1"/>
          <p:cNvSpPr/>
          <p:nvPr>
            <p:ph idx="103"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6" name="Text 1"/>
          <p:cNvSpPr/>
          <p:nvPr>
            <p:ph idx="104" type="title" hasCustomPrompt="1"/>
          </p:nvPr>
        </p:nvSpPr>
        <p:spPr>
          <a:xfrm>
            <a:off x="566928" y="347472"/>
            <a:ext cx="502920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7" name="Text 1"/>
          <p:cNvSpPr/>
          <p:nvPr>
            <p:ph idx="105" type="body" hasCustomPrompt="1"/>
          </p:nvPr>
        </p:nvSpPr>
        <p:spPr>
          <a:xfrm>
            <a:off x="566928" y="896112"/>
            <a:ext cx="502920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8" name="Text 1"/>
          <p:cNvSpPr/>
          <p:nvPr>
            <p:ph idx="106"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566928" y="5687568"/>
            <a:ext cx="502920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 Photo Black">
    <p:bg>
      <p:bgPr>
        <a:solidFill>
          <a:srgbClr val="000000"/>
        </a:solidFill>
      </p:bgPr>
    </p:bg>
    <p:spTree>
      <p:nvGrpSpPr>
        <p:cNvPr id="1" name=""/>
        <p:cNvGrpSpPr/>
        <p:nvPr/>
      </p:nvGrpSpPr>
      <p:grpSpPr>
        <a:xfrm>
          <a:off x="0" y="0"/>
          <a:ext cx="0" cy="0"/>
          <a:chOff x="0" y="0"/>
          <a:chExt cx="0" cy="0"/>
        </a:xfrm>
      </p:grpSpPr>
      <p:sp>
        <p:nvSpPr>
          <p:cNvPr id="2" name="Text 0"/>
          <p:cNvSpPr/>
          <p:nvPr>
            <p:ph idx="100" hasCustomPrompt="1"/>
          </p:nvPr>
        </p:nvSpPr>
        <p:spPr>
          <a:xfrm>
            <a:off x="6611112" y="0"/>
            <a:ext cx="5577840"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3" name="Image 0" descr="https://snp-mediaportal.qbank.se/assets/deployedFiles/fd6ac17e8cb753e1865b09a3b5a17939.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5" name="Text 1"/>
          <p:cNvSpPr/>
          <p:nvPr>
            <p:ph idx="103"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6" name="Text 1"/>
          <p:cNvSpPr/>
          <p:nvPr>
            <p:ph idx="104" type="title" hasCustomPrompt="1"/>
          </p:nvPr>
        </p:nvSpPr>
        <p:spPr>
          <a:xfrm>
            <a:off x="566928" y="347472"/>
            <a:ext cx="5029200" cy="457200"/>
          </a:xfrm>
          <a:prstGeom prst="rect">
            <a:avLst/>
          </a:prstGeom>
          <a:noFill/>
          <a:ln/>
        </p:spPr>
        <p:txBody>
          <a:bodyPr wrap="square" rtlCol="0"/>
          <a:lstStyle>
            <a:lvl1pPr algn="l" indent="0" marL="0">
              <a:buNone/>
              <a:defRPr lang="en-US" sz="2400" dirty="0">
                <a:solidFill>
                  <a:srgbClr val="FFFFFF"/>
                </a:solidFill>
                <a:latin typeface="Arial" pitchFamily="34" charset="0"/>
                <a:ea typeface="Arial" pitchFamily="34" charset="-122"/>
                <a:cs typeface="Arial" pitchFamily="34" charset="-120"/>
              </a:defRPr>
            </a:lvl1pPr>
          </a:lstStyle>
          <a:p>
            <a:pPr algn="l" indent="0" marL="0">
              <a:buNone/>
            </a:pPr>
            <a:r>
              <a:rPr lang="en-US" sz="2400" dirty="0">
                <a:solidFill>
                  <a:srgbClr val="FFFFFF"/>
                </a:solidFill>
                <a:latin typeface="Arial" pitchFamily="34" charset="0"/>
                <a:ea typeface="Arial" pitchFamily="34" charset="-122"/>
                <a:cs typeface="Arial" pitchFamily="34" charset="-120"/>
              </a:rPr>
              <a:t>[Headline - one line max]</a:t>
            </a:r>
            <a:endParaRPr lang="en-US" sz="2400" dirty="0"/>
          </a:p>
        </p:txBody>
      </p:sp>
      <p:sp>
        <p:nvSpPr>
          <p:cNvPr id="7" name="Text 1"/>
          <p:cNvSpPr/>
          <p:nvPr>
            <p:ph idx="105" type="body" hasCustomPrompt="1"/>
          </p:nvPr>
        </p:nvSpPr>
        <p:spPr>
          <a:xfrm>
            <a:off x="566928" y="896112"/>
            <a:ext cx="5029200" cy="283464"/>
          </a:xfrm>
          <a:prstGeom prst="rect">
            <a:avLst/>
          </a:prstGeom>
          <a:noFill/>
          <a:ln/>
        </p:spPr>
        <p:txBody>
          <a:bodyPr wrap="square" rtlCol="0"/>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r>
              <a:rPr lang="en-US" sz="1800" dirty="0">
                <a:solidFill>
                  <a:srgbClr val="FFFFFF"/>
                </a:solidFill>
                <a:latin typeface="Arial" pitchFamily="34" charset="0"/>
                <a:ea typeface="Arial" pitchFamily="34" charset="-122"/>
                <a:cs typeface="Arial" pitchFamily="34" charset="-120"/>
              </a:rPr>
              <a:t>[Subheadline - one line max]</a:t>
            </a:r>
            <a:endParaRPr lang="en-US" sz="1800" dirty="0"/>
          </a:p>
        </p:txBody>
      </p:sp>
      <p:sp>
        <p:nvSpPr>
          <p:cNvPr id="8" name="Text 1"/>
          <p:cNvSpPr/>
          <p:nvPr>
            <p:ph idx="106"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FFFFFF"/>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FFFFFF"/>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566928" y="5687568"/>
            <a:ext cx="5029200" cy="530352"/>
          </a:xfrm>
          <a:prstGeom prst="rect">
            <a:avLst/>
          </a:prstGeom>
          <a:noFill/>
          <a:ln/>
        </p:spPr>
        <p:txBody>
          <a:bodyPr wrap="square" rtlCol="0"/>
          <a:lstStyle>
            <a:lvl1pPr algn="l" indent="0" marL="0">
              <a:buNone/>
              <a:defRPr lang="en-US" sz="700" dirty="0">
                <a:solidFill>
                  <a:srgbClr val="FFFFFF"/>
                </a:solidFill>
                <a:latin typeface="Arial" pitchFamily="34" charset="0"/>
                <a:ea typeface="Arial" pitchFamily="34" charset="-122"/>
                <a:cs typeface="Arial" pitchFamily="34" charset="-120"/>
              </a:defRPr>
            </a:lvl1pPr>
          </a:lstStyle>
          <a:p>
            <a:pPr algn="l" indent="0" marL="0">
              <a:buNone/>
            </a:pPr>
            <a:r>
              <a:rPr lang="en-US" sz="700" dirty="0">
                <a:solidFill>
                  <a:srgbClr val="FFFFFF"/>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 Photo Blu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611112" cy="6858000"/>
          </a:xfrm>
          <a:prstGeom prst="rect">
            <a:avLst/>
          </a:prstGeom>
          <a:solidFill>
            <a:srgbClr val="C7DAE0"/>
          </a:solidFill>
          <a:ln w="12700">
            <a:solidFill>
              <a:srgbClr val="C7DAE0"/>
            </a:solidFill>
            <a:prstDash val="solid"/>
          </a:ln>
        </p:spPr>
      </p:sp>
      <p:sp>
        <p:nvSpPr>
          <p:cNvPr id="3" name="Text 1"/>
          <p:cNvSpPr/>
          <p:nvPr>
            <p:ph idx="101" hasCustomPrompt="1"/>
          </p:nvPr>
        </p:nvSpPr>
        <p:spPr>
          <a:xfrm>
            <a:off x="6611112" y="0"/>
            <a:ext cx="5577840"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4" name="Image 0" descr="https://snp-mediaportal.qbank.se/assets/deployedFiles/0171221a07b0be1374ebaa6bc786f2b5.png">    </p:cNvPr>
          <p:cNvPicPr>
            <a:picLocks noChangeAspect="1"/>
          </p:cNvPicPr>
          <p:nvPr/>
        </p:nvPicPr>
        <p:blipFill>
          <a:blip r:embed="rId1"/>
          <a:stretch>
            <a:fillRect/>
          </a:stretch>
        </p:blipFill>
        <p:spPr>
          <a:xfrm>
            <a:off x="466344" y="6281928"/>
            <a:ext cx="1572768" cy="557784"/>
          </a:xfrm>
          <a:prstGeom prst="rect">
            <a:avLst/>
          </a:prstGeom>
        </p:spPr>
      </p:pic>
      <p:sp>
        <p:nvSpPr>
          <p:cNvPr id="5" name="Text 1"/>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6" name="Text 2"/>
          <p:cNvSpPr/>
          <p:nvPr>
            <p:ph idx="104"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7" name="Text 2"/>
          <p:cNvSpPr/>
          <p:nvPr>
            <p:ph idx="105" type="title" hasCustomPrompt="1"/>
          </p:nvPr>
        </p:nvSpPr>
        <p:spPr>
          <a:xfrm>
            <a:off x="566928" y="347472"/>
            <a:ext cx="502920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8" name="Text 2"/>
          <p:cNvSpPr/>
          <p:nvPr>
            <p:ph idx="106" type="body" hasCustomPrompt="1"/>
          </p:nvPr>
        </p:nvSpPr>
        <p:spPr>
          <a:xfrm>
            <a:off x="566928" y="896112"/>
            <a:ext cx="502920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9" name="Text 2"/>
          <p:cNvSpPr/>
          <p:nvPr>
            <p:ph idx="107"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2"/>
          <p:cNvSpPr/>
          <p:nvPr>
            <p:ph idx="10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2"/>
          <p:cNvSpPr/>
          <p:nvPr>
            <p:ph idx="109" type="body" hasCustomPrompt="1"/>
          </p:nvPr>
        </p:nvSpPr>
        <p:spPr>
          <a:xfrm>
            <a:off x="566928" y="5687568"/>
            <a:ext cx="502920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4000" b="1" dirty="0">
                <a:solidFill>
                  <a:srgbClr val="000000"/>
                </a:solidFill>
                <a:latin typeface="Arial" pitchFamily="34" charset="0"/>
                <a:ea typeface="Arial" pitchFamily="34" charset="-122"/>
                <a:cs typeface="Arial" pitchFamily="34" charset="-120"/>
              </a:rPr>
              <a:t>ICONS</a:t>
            </a:r>
            <a:endParaRPr lang="en-US" sz="140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cons 3 Columns Vertical">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hasCustomPrompt="1"/>
          </p:nvPr>
        </p:nvSpPr>
        <p:spPr>
          <a:xfrm>
            <a:off x="557784" y="1261872"/>
            <a:ext cx="1161288" cy="116128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566928" y="2633472"/>
            <a:ext cx="3374136" cy="384048"/>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p:nvPr>
            <p:ph idx="107" type="body" hasCustomPrompt="1"/>
          </p:nvPr>
        </p:nvSpPr>
        <p:spPr>
          <a:xfrm>
            <a:off x="566928" y="3163824"/>
            <a:ext cx="3374136" cy="244144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p:nvPr>
            <p:ph idx="108" hasCustomPrompt="1"/>
          </p:nvPr>
        </p:nvSpPr>
        <p:spPr>
          <a:xfrm>
            <a:off x="4407408" y="1261872"/>
            <a:ext cx="1161288" cy="116128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1" name="Text 1"/>
          <p:cNvSpPr/>
          <p:nvPr>
            <p:ph idx="109" type="body" hasCustomPrompt="1"/>
          </p:nvPr>
        </p:nvSpPr>
        <p:spPr>
          <a:xfrm>
            <a:off x="4407408" y="2633472"/>
            <a:ext cx="3374136" cy="384048"/>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p:nvPr>
            <p:ph idx="110" type="body" hasCustomPrompt="1"/>
          </p:nvPr>
        </p:nvSpPr>
        <p:spPr>
          <a:xfrm>
            <a:off x="4407408" y="3163824"/>
            <a:ext cx="3374136" cy="244144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p:nvPr>
            <p:ph idx="111" hasCustomPrompt="1"/>
          </p:nvPr>
        </p:nvSpPr>
        <p:spPr>
          <a:xfrm>
            <a:off x="8257032" y="1261872"/>
            <a:ext cx="1161288" cy="116128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4" name="Text 1"/>
          <p:cNvSpPr/>
          <p:nvPr>
            <p:ph idx="112" type="body" hasCustomPrompt="1"/>
          </p:nvPr>
        </p:nvSpPr>
        <p:spPr>
          <a:xfrm>
            <a:off x="8257032" y="2633472"/>
            <a:ext cx="3374136" cy="384048"/>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p:nvPr>
            <p:ph idx="113" type="body" hasCustomPrompt="1"/>
          </p:nvPr>
        </p:nvSpPr>
        <p:spPr>
          <a:xfrm>
            <a:off x="8257032" y="3163824"/>
            <a:ext cx="3374136" cy="244144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p:nvPr>
            <p:ph idx="114"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7" name="Text 1"/>
          <p:cNvSpPr/>
          <p:nvPr>
            <p:ph idx="115"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cons 3 Columns Horizontal">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hasCustomPrompt="1"/>
          </p:nvPr>
        </p:nvSpPr>
        <p:spPr>
          <a:xfrm>
            <a:off x="566928" y="1261872"/>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1783080" y="1261872"/>
            <a:ext cx="984808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p:nvPr>
            <p:ph idx="107" type="body" hasCustomPrompt="1"/>
          </p:nvPr>
        </p:nvSpPr>
        <p:spPr>
          <a:xfrm>
            <a:off x="1783080" y="1581912"/>
            <a:ext cx="984808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p:nvPr>
            <p:ph idx="108" hasCustomPrompt="1"/>
          </p:nvPr>
        </p:nvSpPr>
        <p:spPr>
          <a:xfrm>
            <a:off x="566928" y="2715768"/>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1" name="Text 1"/>
          <p:cNvSpPr/>
          <p:nvPr>
            <p:ph idx="109" type="body" hasCustomPrompt="1"/>
          </p:nvPr>
        </p:nvSpPr>
        <p:spPr>
          <a:xfrm>
            <a:off x="1792224" y="2715768"/>
            <a:ext cx="984808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p:nvPr>
            <p:ph idx="110" type="body" hasCustomPrompt="1"/>
          </p:nvPr>
        </p:nvSpPr>
        <p:spPr>
          <a:xfrm>
            <a:off x="1792224" y="3035808"/>
            <a:ext cx="984808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p:nvPr>
            <p:ph idx="111" hasCustomPrompt="1"/>
          </p:nvPr>
        </p:nvSpPr>
        <p:spPr>
          <a:xfrm>
            <a:off x="566928" y="4160520"/>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4" name="Text 1"/>
          <p:cNvSpPr/>
          <p:nvPr>
            <p:ph idx="112" type="body" hasCustomPrompt="1"/>
          </p:nvPr>
        </p:nvSpPr>
        <p:spPr>
          <a:xfrm>
            <a:off x="1792224" y="4160520"/>
            <a:ext cx="984808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p:nvPr>
            <p:ph idx="113" type="body" hasCustomPrompt="1"/>
          </p:nvPr>
        </p:nvSpPr>
        <p:spPr>
          <a:xfrm>
            <a:off x="1792224" y="4480560"/>
            <a:ext cx="984808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p:nvPr>
            <p:ph idx="114"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7" name="Text 1"/>
          <p:cNvSpPr/>
          <p:nvPr>
            <p:ph idx="115"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cons 4 Columns + Content">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8" name="Text 1"/>
          <p:cNvSpPr/>
          <p:nvPr>
            <p:ph idx="106" hasCustomPrompt="1"/>
          </p:nvPr>
        </p:nvSpPr>
        <p:spPr>
          <a:xfrm>
            <a:off x="6620256" y="1261872"/>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9" name="Text 1"/>
          <p:cNvSpPr/>
          <p:nvPr>
            <p:ph idx="107" type="body" hasCustomPrompt="1"/>
          </p:nvPr>
        </p:nvSpPr>
        <p:spPr>
          <a:xfrm>
            <a:off x="7488936" y="1261872"/>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10" name="Text 1"/>
          <p:cNvSpPr/>
          <p:nvPr>
            <p:ph idx="108" type="body" hasCustomPrompt="1"/>
          </p:nvPr>
        </p:nvSpPr>
        <p:spPr>
          <a:xfrm>
            <a:off x="7488936" y="1600200"/>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1" name="Text 1"/>
          <p:cNvSpPr/>
          <p:nvPr>
            <p:ph idx="109" hasCustomPrompt="1"/>
          </p:nvPr>
        </p:nvSpPr>
        <p:spPr>
          <a:xfrm>
            <a:off x="6620256" y="2487168"/>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2" name="Text 1"/>
          <p:cNvSpPr/>
          <p:nvPr>
            <p:ph idx="110" type="body" hasCustomPrompt="1"/>
          </p:nvPr>
        </p:nvSpPr>
        <p:spPr>
          <a:xfrm>
            <a:off x="7488936" y="2487168"/>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3" name="Text 1"/>
          <p:cNvSpPr/>
          <p:nvPr>
            <p:ph idx="111" type="body" hasCustomPrompt="1"/>
          </p:nvPr>
        </p:nvSpPr>
        <p:spPr>
          <a:xfrm>
            <a:off x="7488936" y="2825496"/>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4" name="Text 1"/>
          <p:cNvSpPr/>
          <p:nvPr>
            <p:ph idx="112" hasCustomPrompt="1"/>
          </p:nvPr>
        </p:nvSpPr>
        <p:spPr>
          <a:xfrm>
            <a:off x="6620256" y="3712464"/>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5" name="Text 1"/>
          <p:cNvSpPr/>
          <p:nvPr>
            <p:ph idx="113" type="body" hasCustomPrompt="1"/>
          </p:nvPr>
        </p:nvSpPr>
        <p:spPr>
          <a:xfrm>
            <a:off x="7488936" y="3703320"/>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6" name="Text 1"/>
          <p:cNvSpPr/>
          <p:nvPr>
            <p:ph idx="114" type="body" hasCustomPrompt="1"/>
          </p:nvPr>
        </p:nvSpPr>
        <p:spPr>
          <a:xfrm>
            <a:off x="7488936" y="4041648"/>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7" name="Text 1"/>
          <p:cNvSpPr/>
          <p:nvPr>
            <p:ph idx="115" hasCustomPrompt="1"/>
          </p:nvPr>
        </p:nvSpPr>
        <p:spPr>
          <a:xfrm>
            <a:off x="6620256" y="4928616"/>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8" name="Text 1"/>
          <p:cNvSpPr/>
          <p:nvPr>
            <p:ph idx="116" type="body" hasCustomPrompt="1"/>
          </p:nvPr>
        </p:nvSpPr>
        <p:spPr>
          <a:xfrm>
            <a:off x="7488936" y="4928616"/>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9" name="Text 1"/>
          <p:cNvSpPr/>
          <p:nvPr>
            <p:ph idx="117" type="body" hasCustomPrompt="1"/>
          </p:nvPr>
        </p:nvSpPr>
        <p:spPr>
          <a:xfrm>
            <a:off x="7488936" y="5266944"/>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20" name="Text 1"/>
          <p:cNvSpPr/>
          <p:nvPr>
            <p:ph idx="11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1" name="Text 1"/>
          <p:cNvSpPr/>
          <p:nvPr>
            <p:ph idx="119"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cons 4 Columns + Content Blu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48" y="0"/>
            <a:ext cx="6099048" cy="6858000"/>
          </a:xfrm>
          <a:prstGeom prst="rect">
            <a:avLst/>
          </a:prstGeom>
          <a:solidFill>
            <a:srgbClr val="C7DAE0"/>
          </a:solidFill>
          <a:ln/>
        </p:spPr>
      </p:sp>
      <p:pic>
        <p:nvPicPr>
          <p:cNvPr id="3"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1"/>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5" name="Text 2"/>
          <p:cNvSpPr/>
          <p:nvPr>
            <p:ph idx="103"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6" name="Text 2"/>
          <p:cNvSpPr/>
          <p:nvPr>
            <p:ph idx="104" type="title" hasCustomPrompt="1"/>
          </p:nvPr>
        </p:nvSpPr>
        <p:spPr>
          <a:xfrm>
            <a:off x="566928" y="347472"/>
            <a:ext cx="530352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7" name="Text 2"/>
          <p:cNvSpPr/>
          <p:nvPr>
            <p:ph idx="105" type="body" hasCustomPrompt="1"/>
          </p:nvPr>
        </p:nvSpPr>
        <p:spPr>
          <a:xfrm>
            <a:off x="566928" y="896112"/>
            <a:ext cx="502920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8" name="Text 2"/>
          <p:cNvSpPr/>
          <p:nvPr>
            <p:ph idx="106"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9" name="Text 2"/>
          <p:cNvSpPr/>
          <p:nvPr>
            <p:ph idx="107" hasCustomPrompt="1"/>
          </p:nvPr>
        </p:nvSpPr>
        <p:spPr>
          <a:xfrm>
            <a:off x="6620256" y="1261872"/>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2"/>
          <p:cNvSpPr/>
          <p:nvPr>
            <p:ph idx="108" type="body" hasCustomPrompt="1"/>
          </p:nvPr>
        </p:nvSpPr>
        <p:spPr>
          <a:xfrm>
            <a:off x="7488936" y="1261872"/>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11" name="Text 2"/>
          <p:cNvSpPr/>
          <p:nvPr>
            <p:ph idx="109" type="body" hasCustomPrompt="1"/>
          </p:nvPr>
        </p:nvSpPr>
        <p:spPr>
          <a:xfrm>
            <a:off x="7488936" y="1600200"/>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2" name="Text 2"/>
          <p:cNvSpPr/>
          <p:nvPr>
            <p:ph idx="110" hasCustomPrompt="1"/>
          </p:nvPr>
        </p:nvSpPr>
        <p:spPr>
          <a:xfrm>
            <a:off x="6620256" y="2487168"/>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3" name="Text 2"/>
          <p:cNvSpPr/>
          <p:nvPr>
            <p:ph idx="111" type="body" hasCustomPrompt="1"/>
          </p:nvPr>
        </p:nvSpPr>
        <p:spPr>
          <a:xfrm>
            <a:off x="7488936" y="2487168"/>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4" name="Text 2"/>
          <p:cNvSpPr/>
          <p:nvPr>
            <p:ph idx="112" type="body" hasCustomPrompt="1"/>
          </p:nvPr>
        </p:nvSpPr>
        <p:spPr>
          <a:xfrm>
            <a:off x="7488936" y="2825496"/>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5" name="Text 2"/>
          <p:cNvSpPr/>
          <p:nvPr>
            <p:ph idx="113" hasCustomPrompt="1"/>
          </p:nvPr>
        </p:nvSpPr>
        <p:spPr>
          <a:xfrm>
            <a:off x="6620256" y="3712464"/>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6" name="Text 2"/>
          <p:cNvSpPr/>
          <p:nvPr>
            <p:ph idx="114" type="body" hasCustomPrompt="1"/>
          </p:nvPr>
        </p:nvSpPr>
        <p:spPr>
          <a:xfrm>
            <a:off x="7488936" y="3703320"/>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7" name="Text 2"/>
          <p:cNvSpPr/>
          <p:nvPr>
            <p:ph idx="115" type="body" hasCustomPrompt="1"/>
          </p:nvPr>
        </p:nvSpPr>
        <p:spPr>
          <a:xfrm>
            <a:off x="7488936" y="4041648"/>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8" name="Text 2"/>
          <p:cNvSpPr/>
          <p:nvPr>
            <p:ph idx="116" hasCustomPrompt="1"/>
          </p:nvPr>
        </p:nvSpPr>
        <p:spPr>
          <a:xfrm>
            <a:off x="6620256" y="4928616"/>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9" name="Text 2"/>
          <p:cNvSpPr/>
          <p:nvPr>
            <p:ph idx="117" type="body" hasCustomPrompt="1"/>
          </p:nvPr>
        </p:nvSpPr>
        <p:spPr>
          <a:xfrm>
            <a:off x="7488936" y="4928616"/>
            <a:ext cx="4133088" cy="2651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20" name="Text 2"/>
          <p:cNvSpPr/>
          <p:nvPr>
            <p:ph idx="118" type="body" hasCustomPrompt="1"/>
          </p:nvPr>
        </p:nvSpPr>
        <p:spPr>
          <a:xfrm>
            <a:off x="7488936" y="5266944"/>
            <a:ext cx="4133088" cy="64008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21" name="Text 2"/>
          <p:cNvSpPr/>
          <p:nvPr>
            <p:ph idx="119"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2" name="Text 2"/>
          <p:cNvSpPr/>
          <p:nvPr>
            <p:ph idx="120" type="body" hasCustomPrompt="1"/>
          </p:nvPr>
        </p:nvSpPr>
        <p:spPr>
          <a:xfrm>
            <a:off x="566928" y="5687568"/>
            <a:ext cx="502920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cons 2 x 3 Colum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hasCustomPrompt="1"/>
          </p:nvPr>
        </p:nvSpPr>
        <p:spPr>
          <a:xfrm>
            <a:off x="566928" y="1261872"/>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1783080" y="1261872"/>
            <a:ext cx="385876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p:nvPr>
            <p:ph idx="107" type="body" hasCustomPrompt="1"/>
          </p:nvPr>
        </p:nvSpPr>
        <p:spPr>
          <a:xfrm>
            <a:off x="1783080" y="1591056"/>
            <a:ext cx="385876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p:nvPr>
            <p:ph idx="108" hasCustomPrompt="1"/>
          </p:nvPr>
        </p:nvSpPr>
        <p:spPr>
          <a:xfrm>
            <a:off x="6547104" y="1261872"/>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1" name="Text 1"/>
          <p:cNvSpPr/>
          <p:nvPr>
            <p:ph idx="109" type="body" hasCustomPrompt="1"/>
          </p:nvPr>
        </p:nvSpPr>
        <p:spPr>
          <a:xfrm>
            <a:off x="7763256" y="1261872"/>
            <a:ext cx="385876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p:nvPr>
            <p:ph idx="110" type="body" hasCustomPrompt="1"/>
          </p:nvPr>
        </p:nvSpPr>
        <p:spPr>
          <a:xfrm>
            <a:off x="7763256" y="1591056"/>
            <a:ext cx="385876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p:nvPr>
            <p:ph idx="111" hasCustomPrompt="1"/>
          </p:nvPr>
        </p:nvSpPr>
        <p:spPr>
          <a:xfrm>
            <a:off x="566928" y="2715768"/>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4" name="Text 1"/>
          <p:cNvSpPr/>
          <p:nvPr>
            <p:ph idx="112" type="body" hasCustomPrompt="1"/>
          </p:nvPr>
        </p:nvSpPr>
        <p:spPr>
          <a:xfrm>
            <a:off x="1783080" y="2715768"/>
            <a:ext cx="385876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p:nvPr>
            <p:ph idx="113" type="body" hasCustomPrompt="1"/>
          </p:nvPr>
        </p:nvSpPr>
        <p:spPr>
          <a:xfrm>
            <a:off x="1783080" y="3026664"/>
            <a:ext cx="385876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p:nvPr>
            <p:ph idx="114" hasCustomPrompt="1"/>
          </p:nvPr>
        </p:nvSpPr>
        <p:spPr>
          <a:xfrm>
            <a:off x="6547104" y="2715768"/>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7" name="Text 1"/>
          <p:cNvSpPr/>
          <p:nvPr>
            <p:ph idx="115" type="body" hasCustomPrompt="1"/>
          </p:nvPr>
        </p:nvSpPr>
        <p:spPr>
          <a:xfrm>
            <a:off x="7763256" y="2715768"/>
            <a:ext cx="385876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[subtitle4]</a:t>
            </a:r>
            <a:endParaRPr lang="en-US" sz="1800" dirty="0"/>
          </a:p>
        </p:txBody>
      </p:sp>
      <p:sp>
        <p:nvSpPr>
          <p:cNvPr id="18" name="Text 1"/>
          <p:cNvSpPr/>
          <p:nvPr>
            <p:ph idx="116" type="body" hasCustomPrompt="1"/>
          </p:nvPr>
        </p:nvSpPr>
        <p:spPr>
          <a:xfrm>
            <a:off x="7763256" y="3026664"/>
            <a:ext cx="385876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9" name="Text 1"/>
          <p:cNvSpPr/>
          <p:nvPr>
            <p:ph idx="117" hasCustomPrompt="1"/>
          </p:nvPr>
        </p:nvSpPr>
        <p:spPr>
          <a:xfrm>
            <a:off x="566928" y="4151376"/>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20" name="Text 1"/>
          <p:cNvSpPr/>
          <p:nvPr>
            <p:ph idx="118" type="body" hasCustomPrompt="1"/>
          </p:nvPr>
        </p:nvSpPr>
        <p:spPr>
          <a:xfrm>
            <a:off x="1783080" y="4151376"/>
            <a:ext cx="385876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[subtitle5]</a:t>
            </a:r>
            <a:endParaRPr lang="en-US" sz="1800" dirty="0"/>
          </a:p>
        </p:txBody>
      </p:sp>
      <p:sp>
        <p:nvSpPr>
          <p:cNvPr id="21" name="Text 1"/>
          <p:cNvSpPr/>
          <p:nvPr>
            <p:ph idx="119" type="body" hasCustomPrompt="1"/>
          </p:nvPr>
        </p:nvSpPr>
        <p:spPr>
          <a:xfrm>
            <a:off x="1783080" y="4462272"/>
            <a:ext cx="385876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[content5]</a:t>
            </a:r>
            <a:endParaRPr lang="en-US" sz="1200" dirty="0"/>
          </a:p>
        </p:txBody>
      </p:sp>
      <p:sp>
        <p:nvSpPr>
          <p:cNvPr id="22" name="Text 1"/>
          <p:cNvSpPr/>
          <p:nvPr>
            <p:ph idx="120" hasCustomPrompt="1"/>
          </p:nvPr>
        </p:nvSpPr>
        <p:spPr>
          <a:xfrm>
            <a:off x="6547104" y="4151376"/>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23" name="Text 1"/>
          <p:cNvSpPr/>
          <p:nvPr>
            <p:ph idx="121" type="body" hasCustomPrompt="1"/>
          </p:nvPr>
        </p:nvSpPr>
        <p:spPr>
          <a:xfrm>
            <a:off x="7763256" y="4151376"/>
            <a:ext cx="3858768" cy="265176"/>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[subtitle6]</a:t>
            </a:r>
            <a:endParaRPr lang="en-US" sz="1800" dirty="0"/>
          </a:p>
        </p:txBody>
      </p:sp>
      <p:sp>
        <p:nvSpPr>
          <p:cNvPr id="24" name="Text 1"/>
          <p:cNvSpPr/>
          <p:nvPr>
            <p:ph idx="122" type="body" hasCustomPrompt="1"/>
          </p:nvPr>
        </p:nvSpPr>
        <p:spPr>
          <a:xfrm>
            <a:off x="7763256" y="4462272"/>
            <a:ext cx="3858768" cy="93268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[content6]</a:t>
            </a:r>
            <a:endParaRPr lang="en-US" sz="1200" dirty="0"/>
          </a:p>
        </p:txBody>
      </p:sp>
      <p:sp>
        <p:nvSpPr>
          <p:cNvPr id="25" name="Text 1"/>
          <p:cNvSpPr/>
          <p:nvPr>
            <p:ph idx="123"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6" name="Text 1"/>
          <p:cNvSpPr/>
          <p:nvPr>
            <p:ph idx="124"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4000" b="1" dirty="0">
                <a:solidFill>
                  <a:srgbClr val="000000"/>
                </a:solidFill>
                <a:latin typeface="Arial" pitchFamily="34" charset="0"/>
                <a:ea typeface="Arial" pitchFamily="34" charset="-122"/>
                <a:cs typeface="Arial" pitchFamily="34" charset="-120"/>
              </a:rPr>
              <a:t>CHARTS</a:t>
            </a:r>
            <a:endParaRPr lang="en-US" sz="14000"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 Chart/Table 1">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502920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502920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8" name="Text 1"/>
          <p:cNvSpPr/>
          <p:nvPr>
            <p:ph idx="106" type="chart" hasCustomPrompt="1"/>
          </p:nvPr>
        </p:nvSpPr>
        <p:spPr>
          <a:xfrm>
            <a:off x="6611112" y="347472"/>
            <a:ext cx="5029200" cy="5257800"/>
          </a:xfrm>
          <a:prstGeom prst="rect">
            <a:avLst/>
          </a:prstGeom>
          <a:noFill/>
          <a:ln/>
        </p:spPr>
        <p:txBody>
          <a:bodyPr wrap="square" rtlCol="0"/>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p:nvPr>
            <p:ph idx="107"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hart - Horizontal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11064240" cy="832104"/>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p:nvPr>
            <p:ph idx="106" type="chart" hasCustomPrompt="1"/>
          </p:nvPr>
        </p:nvSpPr>
        <p:spPr>
          <a:xfrm>
            <a:off x="566928" y="2286000"/>
            <a:ext cx="11064240" cy="3310128"/>
          </a:xfrm>
          <a:prstGeom prst="rect">
            <a:avLst/>
          </a:prstGeom>
          <a:noFill/>
          <a:ln/>
        </p:spPr>
        <p:txBody>
          <a:bodyPr wrap="square" rtlCol="0"/>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p:nvPr>
            <p:ph idx="107"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hart + Statement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11064240" cy="832104"/>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p:nvPr>
            <p:ph idx="106" type="chart" hasCustomPrompt="1"/>
          </p:nvPr>
        </p:nvSpPr>
        <p:spPr>
          <a:xfrm>
            <a:off x="566928" y="2286000"/>
            <a:ext cx="5532120" cy="3310128"/>
          </a:xfrm>
          <a:prstGeom prst="rect">
            <a:avLst/>
          </a:prstGeom>
          <a:noFill/>
          <a:ln/>
        </p:spPr>
        <p:txBody>
          <a:bodyPr wrap="square" rtlCol="0"/>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p:nvPr>
            <p:ph idx="107" type="body" hasCustomPrompt="1"/>
          </p:nvPr>
        </p:nvSpPr>
        <p:spPr>
          <a:xfrm>
            <a:off x="6611112" y="2286000"/>
            <a:ext cx="5029200" cy="3310128"/>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10" name="Text 1"/>
          <p:cNvSpPr/>
          <p:nvPr>
            <p:ph idx="10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rt + Statement 3">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5029200" cy="1380744"/>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p:nvPr>
            <p:ph idx="106" type="body" hasCustomPrompt="1"/>
          </p:nvPr>
        </p:nvSpPr>
        <p:spPr>
          <a:xfrm>
            <a:off x="566928" y="2825496"/>
            <a:ext cx="5029200" cy="2770632"/>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9" name="Text 1"/>
          <p:cNvSpPr/>
          <p:nvPr>
            <p:ph idx="107" type="chart" hasCustomPrompt="1"/>
          </p:nvPr>
        </p:nvSpPr>
        <p:spPr>
          <a:xfrm>
            <a:off x="6611112" y="1261872"/>
            <a:ext cx="5029200" cy="4937760"/>
          </a:xfrm>
          <a:prstGeom prst="rect">
            <a:avLst/>
          </a:prstGeom>
          <a:noFill/>
          <a:ln/>
        </p:spPr>
        <p:txBody>
          <a:bodyPr wrap="square" rtlCol="0"/>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10" name="Text 1"/>
          <p:cNvSpPr/>
          <p:nvPr>
            <p:ph idx="10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566928" y="5687568"/>
            <a:ext cx="502920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4000" b="1" dirty="0">
                <a:solidFill>
                  <a:srgbClr val="000000"/>
                </a:solidFill>
                <a:latin typeface="Arial" pitchFamily="34" charset="0"/>
                <a:ea typeface="Arial" pitchFamily="34" charset="-122"/>
                <a:cs typeface="Arial" pitchFamily="34" charset="-120"/>
              </a:rPr>
              <a:t>STATEMENTS</a:t>
            </a:r>
            <a:endParaRPr lang="en-US" sz="140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tatement Photo">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0" y="0"/>
            <a:ext cx="12188952"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3" name="Image 0" descr="https://snp-mediaportal.qbank.se/assets/deployedFiles/a26f9ea4d6285a32e0deb120994276e6.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5" name="Text 1"/>
          <p:cNvSpPr/>
          <p:nvPr>
            <p:ph idx="103"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6" name="Text 1"/>
          <p:cNvSpPr/>
          <p:nvPr>
            <p:ph idx="104" type="body" hasCustomPrompt="1"/>
          </p:nvPr>
        </p:nvSpPr>
        <p:spPr>
          <a:xfrm>
            <a:off x="566928" y="649224"/>
            <a:ext cx="11064240" cy="5047488"/>
          </a:xfrm>
          <a:prstGeom prst="rect">
            <a:avLst/>
          </a:prstGeom>
          <a:noFill/>
          <a:ln/>
        </p:spPr>
        <p:txBody>
          <a:bodyPr wrap="square" rtlCol="0"/>
          <a:lstStyle>
            <a:lvl1pPr algn="ctr" indent="0" marL="0">
              <a:buNone/>
              <a:defRPr lang="en-US" sz="3600" dirty="0">
                <a:solidFill>
                  <a:srgbClr val="FFFFFF"/>
                </a:solidFill>
                <a:latin typeface="Arial" pitchFamily="34" charset="0"/>
                <a:ea typeface="Arial" pitchFamily="34" charset="-122"/>
                <a:cs typeface="Arial" pitchFamily="34" charset="-120"/>
              </a:defRPr>
            </a:lvl1pPr>
          </a:lstStyle>
          <a:p>
            <a:pPr algn="ctr" indent="0" marL="0">
              <a:buNone/>
            </a:pPr>
            <a:r>
              <a:rPr lang="en-US" sz="3600" dirty="0">
                <a:solidFill>
                  <a:srgbClr val="FFFFFF"/>
                </a:solidFill>
                <a:latin typeface="Arial" pitchFamily="34" charset="0"/>
                <a:ea typeface="Arial" pitchFamily="34" charset="-122"/>
                <a:cs typeface="Arial" pitchFamily="34" charset="-120"/>
              </a:rPr>
              <a:t>[Add statement]</a:t>
            </a:r>
            <a:endParaRPr lang="en-US" sz="3600" dirty="0"/>
          </a:p>
        </p:txBody>
      </p:sp>
      <p:sp>
        <p:nvSpPr>
          <p:cNvPr id="7" name="Text 1"/>
          <p:cNvSpPr/>
          <p:nvPr>
            <p:ph idx="105"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tatement Black">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fd6ac17e8cb753e1865b09a3b5a17939.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5" name="Text 1"/>
          <p:cNvSpPr/>
          <p:nvPr>
            <p:ph idx="103" type="body" hasCustomPrompt="1"/>
          </p:nvPr>
        </p:nvSpPr>
        <p:spPr>
          <a:xfrm>
            <a:off x="566928" y="649224"/>
            <a:ext cx="11064240" cy="5047488"/>
          </a:xfrm>
          <a:prstGeom prst="rect">
            <a:avLst/>
          </a:prstGeom>
          <a:noFill/>
          <a:ln/>
        </p:spPr>
        <p:txBody>
          <a:bodyPr wrap="square" rtlCol="0"/>
          <a:lstStyle>
            <a:lvl1pPr algn="l" indent="0" marL="0">
              <a:buNone/>
              <a:defRPr lang="en-US" sz="3600" dirty="0">
                <a:solidFill>
                  <a:srgbClr val="FFFFFF"/>
                </a:solidFill>
                <a:latin typeface="Arial" pitchFamily="34" charset="0"/>
                <a:ea typeface="Arial" pitchFamily="34" charset="-122"/>
                <a:cs typeface="Arial" pitchFamily="34" charset="-120"/>
              </a:defRPr>
            </a:lvl1pPr>
          </a:lstStyle>
          <a:p>
            <a:pPr algn="l" indent="0" marL="0">
              <a:buNone/>
            </a:pPr>
            <a:r>
              <a:rPr lang="en-US" sz="3600" dirty="0">
                <a:solidFill>
                  <a:srgbClr val="FFFFFF"/>
                </a:solidFill>
                <a:latin typeface="Arial" pitchFamily="34" charset="0"/>
                <a:ea typeface="Arial" pitchFamily="34" charset="-122"/>
                <a:cs typeface="Arial" pitchFamily="34" charset="-120"/>
              </a:rPr>
              <a:t>[Add statement]</a:t>
            </a:r>
            <a:endParaRPr lang="en-US" sz="3600" dirty="0"/>
          </a:p>
        </p:txBody>
      </p:sp>
      <p:sp>
        <p:nvSpPr>
          <p:cNvPr id="6" name="Text 1"/>
          <p:cNvSpPr/>
          <p:nvPr>
            <p:ph idx="104"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atement Whit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body" hasCustomPrompt="1"/>
          </p:nvPr>
        </p:nvSpPr>
        <p:spPr>
          <a:xfrm>
            <a:off x="566928" y="649224"/>
            <a:ext cx="11064240" cy="5047488"/>
          </a:xfrm>
          <a:prstGeom prst="rect">
            <a:avLst/>
          </a:prstGeom>
          <a:noFill/>
          <a:ln/>
        </p:spPr>
        <p:txBody>
          <a:bodyPr wrap="square" rtlCol="0"/>
          <a:lstStyle>
            <a:lvl1pPr algn="l" indent="0" marL="0">
              <a:buNone/>
              <a:defRPr lang="en-US" sz="3600" dirty="0">
                <a:solidFill>
                  <a:srgbClr val="000000"/>
                </a:solidFill>
                <a:latin typeface="Arial" pitchFamily="34" charset="0"/>
                <a:ea typeface="Arial" pitchFamily="34" charset="-122"/>
                <a:cs typeface="Arial" pitchFamily="34" charset="-120"/>
              </a:defRPr>
            </a:lvl1pPr>
          </a:lstStyle>
          <a:p>
            <a:pPr algn="l" indent="0" marL="0">
              <a:buNone/>
            </a:pPr>
            <a:r>
              <a:rPr lang="en-US" sz="3600" dirty="0">
                <a:solidFill>
                  <a:srgbClr val="000000"/>
                </a:solidFill>
                <a:latin typeface="Arial" pitchFamily="34" charset="0"/>
                <a:ea typeface="Arial" pitchFamily="34" charset="-122"/>
                <a:cs typeface="Arial" pitchFamily="34" charset="-120"/>
              </a:rPr>
              <a:t>[Add statement]</a:t>
            </a:r>
            <a:endParaRPr lang="en-US" sz="3600" dirty="0"/>
          </a:p>
        </p:txBody>
      </p:sp>
      <p:sp>
        <p:nvSpPr>
          <p:cNvPr id="6" name="Text 1"/>
          <p:cNvSpPr/>
          <p:nvPr>
            <p:ph idx="104"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4000" b="1" dirty="0">
                <a:solidFill>
                  <a:srgbClr val="000000"/>
                </a:solidFill>
                <a:latin typeface="Arial" pitchFamily="34" charset="0"/>
                <a:ea typeface="Arial" pitchFamily="34" charset="-122"/>
                <a:cs typeface="Arial" pitchFamily="34" charset="-120"/>
              </a:rPr>
              <a:t>DIVIDERS</a:t>
            </a:r>
            <a:endParaRPr lang="en-US" sz="140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ection Header">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fd6ac17e8cb753e1865b09a3b5a17939.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457200"/>
            <a:ext cx="5212080" cy="4773168"/>
          </a:xfrm>
          <a:prstGeom prst="rect">
            <a:avLst/>
          </a:prstGeom>
          <a:noFill/>
          <a:ln/>
        </p:spPr>
        <p:txBody>
          <a:bodyPr wrap="square" rtlCol="0"/>
          <a:lstStyle>
            <a:lvl1pPr algn="l" indent="0" marL="0">
              <a:buNone/>
              <a:defRPr lang="en-US" sz="4000" dirty="0">
                <a:solidFill>
                  <a:srgbClr val="FFFFFF"/>
                </a:solidFill>
                <a:latin typeface="Arial" pitchFamily="34" charset="0"/>
                <a:ea typeface="Arial" pitchFamily="34" charset="-122"/>
                <a:cs typeface="Arial" pitchFamily="34" charset="-120"/>
              </a:defRPr>
            </a:lvl1pPr>
          </a:lstStyle>
          <a:p>
            <a:pPr algn="l" indent="0" marL="0">
              <a:buNone/>
            </a:pPr>
            <a:r>
              <a:rPr lang="en-US" sz="4000" dirty="0">
                <a:solidFill>
                  <a:srgbClr val="FFFFFF"/>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566928" y="5230368"/>
            <a:ext cx="5212080" cy="813816"/>
          </a:xfrm>
          <a:prstGeom prst="rect">
            <a:avLst/>
          </a:prstGeom>
          <a:noFill/>
          <a:ln/>
        </p:spPr>
        <p:txBody>
          <a:bodyPr wrap="square" rtlCol="0"/>
          <a:lstStyle>
            <a:lvl1pPr algn="l" indent="0" marL="0">
              <a:buNone/>
              <a:defRPr lang="en-US" sz="1600" dirty="0">
                <a:solidFill>
                  <a:srgbClr val="FFFFFF"/>
                </a:solidFill>
                <a:latin typeface="Arial" pitchFamily="34" charset="0"/>
                <a:ea typeface="Arial" pitchFamily="34" charset="-122"/>
                <a:cs typeface="Arial" pitchFamily="34" charset="-120"/>
              </a:defRPr>
            </a:lvl1pPr>
          </a:lstStyle>
          <a:p>
            <a:pPr algn="l" indent="0" marL="0">
              <a:buNone/>
            </a:pPr>
            <a:r>
              <a:rPr lang="en-US" sz="1600" dirty="0">
                <a:solidFill>
                  <a:srgbClr val="FFFFFF"/>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hasCustomPrompt="1"/>
          </p:nvPr>
        </p:nvSpPr>
        <p:spPr>
          <a:xfrm>
            <a:off x="6099048" y="484632"/>
            <a:ext cx="6089904" cy="555955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ivider 4 Photo">
    <p:bg>
      <p:bgPr>
        <a:solidFill>
          <a:srgbClr val="C7DAE0"/>
        </a:solidFill>
      </p:bgPr>
    </p:bg>
    <p:spTree>
      <p:nvGrpSpPr>
        <p:cNvPr id="1" name=""/>
        <p:cNvGrpSpPr/>
        <p:nvPr/>
      </p:nvGrpSpPr>
      <p:grpSpPr>
        <a:xfrm>
          <a:off x="0" y="0"/>
          <a:ext cx="0" cy="0"/>
          <a:chOff x="0" y="0"/>
          <a:chExt cx="0" cy="0"/>
        </a:xfrm>
      </p:grpSpPr>
      <p:pic>
        <p:nvPicPr>
          <p:cNvPr id="2" name="Image 0" descr="https://snp-mediaportal.qbank.se/assets/deployedFiles/0171221a07b0be1374ebaa6bc786f2b5.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457200"/>
            <a:ext cx="5212080" cy="4773168"/>
          </a:xfrm>
          <a:prstGeom prst="rect">
            <a:avLst/>
          </a:prstGeom>
          <a:noFill/>
          <a:ln/>
        </p:spPr>
        <p:txBody>
          <a:bodyPr wrap="square" rtlCol="0"/>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566928" y="5230368"/>
            <a:ext cx="5212080" cy="81381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hasCustomPrompt="1"/>
          </p:nvPr>
        </p:nvSpPr>
        <p:spPr>
          <a:xfrm>
            <a:off x="6099048" y="484632"/>
            <a:ext cx="6089904" cy="555955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ivider 1">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1956816"/>
            <a:ext cx="4059936" cy="3438144"/>
          </a:xfrm>
          <a:prstGeom prst="rect">
            <a:avLst/>
          </a:prstGeom>
          <a:noFill/>
          <a:ln/>
        </p:spPr>
        <p:txBody>
          <a:bodyPr wrap="square" rtlCol="0"/>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566928" y="5394960"/>
            <a:ext cx="4059936" cy="81381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type="body" hasCustomPrompt="1"/>
          </p:nvPr>
        </p:nvSpPr>
        <p:spPr>
          <a:xfrm>
            <a:off x="6611112" y="1956816"/>
            <a:ext cx="5029200" cy="4251960"/>
          </a:xfrm>
          <a:prstGeom prst="rect">
            <a:avLst/>
          </a:prstGeom>
          <a:noFill/>
          <a:ln/>
        </p:spPr>
        <p:txBody>
          <a:bodyPr wrap="square" rtlCol="0"/>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text]</a:t>
            </a:r>
            <a:endParaRPr lang="en-US" sz="1600" dirty="0"/>
          </a:p>
        </p:txBody>
      </p:sp>
      <p:sp>
        <p:nvSpPr>
          <p:cNvPr id="8" name="Text 1"/>
          <p:cNvSpPr/>
          <p:nvPr>
            <p:ph idx="106"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ivider 2">
    <p:bg>
      <p:bgPr>
        <a:solidFill>
          <a:srgbClr val="C7DAE0"/>
        </a:solidFill>
      </p:bgPr>
    </p:bg>
    <p:spTree>
      <p:nvGrpSpPr>
        <p:cNvPr id="1" name=""/>
        <p:cNvGrpSpPr/>
        <p:nvPr/>
      </p:nvGrpSpPr>
      <p:grpSpPr>
        <a:xfrm>
          <a:off x="0" y="0"/>
          <a:ext cx="0" cy="0"/>
          <a:chOff x="0" y="0"/>
          <a:chExt cx="0" cy="0"/>
        </a:xfrm>
      </p:grpSpPr>
      <p:pic>
        <p:nvPicPr>
          <p:cNvPr id="2" name="Image 0" descr="https://snp-mediaportal.qbank.se/assets/deployedFiles/0171221a07b0be1374ebaa6bc786f2b5.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697" dirty="0">
                <a:solidFill>
                  <a:srgbClr val="000000"/>
                </a:solidFill>
                <a:latin typeface="Arial" pitchFamily="34" charset="0"/>
                <a:ea typeface="Arial" pitchFamily="34" charset="-122"/>
                <a:cs typeface="Arial" pitchFamily="34" charset="-120"/>
              </a:rPr>
              <a:t>© 2026 S&amp;P Global.</a:t>
            </a:r>
            <a:endParaRPr lang="en-US" sz="697"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1956816"/>
            <a:ext cx="4059936" cy="3438144"/>
          </a:xfrm>
          <a:prstGeom prst="rect">
            <a:avLst/>
          </a:prstGeom>
          <a:noFill/>
          <a:ln/>
        </p:spPr>
        <p:txBody>
          <a:bodyPr wrap="square" rtlCol="0"/>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566928" y="5394960"/>
            <a:ext cx="4059936" cy="81381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type="body" hasCustomPrompt="1"/>
          </p:nvPr>
        </p:nvSpPr>
        <p:spPr>
          <a:xfrm>
            <a:off x="6611112" y="1956816"/>
            <a:ext cx="5029200" cy="4251960"/>
          </a:xfrm>
          <a:prstGeom prst="rect">
            <a:avLst/>
          </a:prstGeom>
          <a:noFill/>
          <a:ln/>
        </p:spPr>
        <p:txBody>
          <a:bodyPr wrap="square" rtlCol="0"/>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text]</a:t>
            </a:r>
            <a:endParaRPr lang="en-US" sz="1600" dirty="0"/>
          </a:p>
        </p:txBody>
      </p:sp>
      <p:sp>
        <p:nvSpPr>
          <p:cNvPr id="8" name="Text 1"/>
          <p:cNvSpPr/>
          <p:nvPr>
            <p:ph idx="106"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8800" b="1" dirty="0">
                <a:solidFill>
                  <a:srgbClr val="000000"/>
                </a:solidFill>
                <a:latin typeface="Arial" pitchFamily="34" charset="0"/>
                <a:ea typeface="Arial" pitchFamily="34" charset="-122"/>
                <a:cs typeface="Arial" pitchFamily="34" charset="-120"/>
              </a:rPr>
              <a:t>These layouts for Heritage IHS Markit PPT reports only</a:t>
            </a:r>
            <a:endParaRPr lang="en-US" sz="8800"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Placeholde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11064240"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566928" y="3666744"/>
            <a:ext cx="11064240"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laceholders 1">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333756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4425696" y="1261872"/>
            <a:ext cx="333756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8293608" y="1261872"/>
            <a:ext cx="333756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laceholders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5029200" cy="434340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345936" y="1261872"/>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345936" y="3675888"/>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Placeholders 3">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345936" y="1261872"/>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566928" y="3675888"/>
            <a:ext cx="11064240"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Placeholde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566928" y="896112"/>
            <a:ext cx="11064240" cy="28346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566928" y="1261872"/>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345936" y="1261872"/>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566928" y="3675888"/>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345936" y="3675888"/>
            <a:ext cx="5285232" cy="1920240"/>
          </a:xfrm>
          <a:prstGeom prst="rect">
            <a:avLst/>
          </a:prstGeom>
          <a:noFill/>
          <a:ln/>
        </p:spPr>
        <p:txBody>
          <a:bodyPr wrap="square" rtlCol="0"/>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1" name="Text 1"/>
          <p:cNvSpPr/>
          <p:nvPr>
            <p:ph idx="109"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2" name="Text 1"/>
          <p:cNvSpPr/>
          <p:nvPr>
            <p:ph idx="110" type="body" hasCustomPrompt="1"/>
          </p:nvPr>
        </p:nvSpPr>
        <p:spPr>
          <a:xfrm>
            <a:off x="566928" y="5687568"/>
            <a:ext cx="11064240" cy="530352"/>
          </a:xfrm>
          <a:prstGeom prst="rect">
            <a:avLst/>
          </a:prstGeom>
          <a:noFill/>
          <a:ln/>
        </p:spPr>
        <p:txBody>
          <a:bodyPr wrap="square" rtlCol="0"/>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4000" b="1" dirty="0">
                <a:solidFill>
                  <a:srgbClr val="000000"/>
                </a:solidFill>
                <a:latin typeface="Arial" pitchFamily="34" charset="0"/>
                <a:ea typeface="Arial" pitchFamily="34" charset="-122"/>
                <a:cs typeface="Arial" pitchFamily="34" charset="-120"/>
              </a:rPr>
              <a:t>TITLES</a:t>
            </a:r>
            <a:endParaRPr lang="en-US" sz="1400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hite - reports and presentations (hIH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374904" y="173736"/>
            <a:ext cx="2724912" cy="960120"/>
          </a:xfrm>
          <a:prstGeom prst="rect">
            <a:avLst/>
          </a:prstGeom>
        </p:spPr>
      </p:pic>
      <p:sp>
        <p:nvSpPr>
          <p:cNvPr id="3" name="Text 0"/>
          <p:cNvSpPr/>
          <p:nvPr>
            <p:ph idx="101" type="title" hasCustomPrompt="1"/>
          </p:nvPr>
        </p:nvSpPr>
        <p:spPr>
          <a:xfrm>
            <a:off x="566928" y="1271016"/>
            <a:ext cx="7187184" cy="1865376"/>
          </a:xfrm>
          <a:prstGeom prst="rect">
            <a:avLst/>
          </a:prstGeom>
          <a:noFill/>
          <a:ln/>
        </p:spPr>
        <p:txBody>
          <a:bodyPr wrap="square" rtlCol="0"/>
          <a:lstStyle>
            <a:lvl1pPr algn="l" indent="0" marL="0">
              <a:buNone/>
              <a:defRPr lang="en-US" sz="4400" dirty="0">
                <a:solidFill>
                  <a:srgbClr val="000000"/>
                </a:solidFill>
                <a:latin typeface="Arial" pitchFamily="34" charset="0"/>
                <a:ea typeface="Arial" pitchFamily="34" charset="-122"/>
                <a:cs typeface="Arial" pitchFamily="34" charset="-120"/>
              </a:defRPr>
            </a:lvl1pPr>
          </a:lstStyle>
          <a:p>
            <a:pPr algn="l" indent="0" marL="0">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236976"/>
            <a:ext cx="7187184" cy="576072"/>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566928" y="3931920"/>
            <a:ext cx="7187184" cy="18653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566928" y="5998464"/>
            <a:ext cx="3035808" cy="219456"/>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p:nvPr>
            <p:ph idx="105" type="body" hasCustomPrompt="1"/>
          </p:nvPr>
        </p:nvSpPr>
        <p:spPr>
          <a:xfrm>
            <a:off x="566928" y="1271016"/>
            <a:ext cx="5532120" cy="237744"/>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p:nvPr>
            <p:ph idx="106" type="body" hasCustomPrompt="1"/>
          </p:nvPr>
        </p:nvSpPr>
        <p:spPr>
          <a:xfrm>
            <a:off x="7159752" y="356616"/>
            <a:ext cx="4471416" cy="237744"/>
          </a:xfrm>
          <a:prstGeom prst="rect">
            <a:avLst/>
          </a:prstGeom>
          <a:noFill/>
          <a:ln/>
        </p:spPr>
        <p:txBody>
          <a:bodyPr wrap="square" rtlCol="0"/>
          <a:lstStyle>
            <a:lvl1pPr algn="r" indent="0" marL="0">
              <a:buNone/>
              <a:defRPr lang="en-US" sz="1200" b="1" dirty="0">
                <a:solidFill>
                  <a:srgbClr val="D6002A"/>
                </a:solidFill>
                <a:latin typeface="Arial" pitchFamily="34" charset="0"/>
                <a:ea typeface="Arial" pitchFamily="34" charset="-122"/>
                <a:cs typeface="Arial" pitchFamily="34" charset="-120"/>
              </a:defRPr>
            </a:lvl1pPr>
          </a:lstStyle>
          <a:p>
            <a:pPr algn="r" indent="0" marL="0">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p:nvPr>
            <p:ph idx="107" hasCustomPrompt="1"/>
          </p:nvPr>
        </p:nvSpPr>
        <p:spPr>
          <a:xfrm>
            <a:off x="7909560" y="1289304"/>
            <a:ext cx="4288536" cy="4928616"/>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ERA_Title White - reports and presentations (hIH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e00dbb454a23d998effeb60c31d93d6d.png">    </p:cNvPr>
          <p:cNvPicPr>
            <a:picLocks noChangeAspect="1"/>
          </p:cNvPicPr>
          <p:nvPr/>
        </p:nvPicPr>
        <p:blipFill>
          <a:blip r:embed="rId1"/>
          <a:stretch>
            <a:fillRect/>
          </a:stretch>
        </p:blipFill>
        <p:spPr>
          <a:xfrm>
            <a:off x="374904" y="164592"/>
            <a:ext cx="1719072" cy="1344168"/>
          </a:xfrm>
          <a:prstGeom prst="rect">
            <a:avLst/>
          </a:prstGeom>
        </p:spPr>
      </p:pic>
      <p:sp>
        <p:nvSpPr>
          <p:cNvPr id="3" name="Text 0"/>
          <p:cNvSpPr/>
          <p:nvPr>
            <p:ph idx="101" type="title" hasCustomPrompt="1"/>
          </p:nvPr>
        </p:nvSpPr>
        <p:spPr>
          <a:xfrm>
            <a:off x="566928" y="1929384"/>
            <a:ext cx="7187184" cy="1207008"/>
          </a:xfrm>
          <a:prstGeom prst="rect">
            <a:avLst/>
          </a:prstGeom>
          <a:noFill/>
          <a:ln/>
        </p:spPr>
        <p:txBody>
          <a:bodyPr wrap="square" rtlCol="0"/>
          <a:lstStyle>
            <a:lvl1pPr algn="l" indent="0" marL="0">
              <a:buNone/>
              <a:defRPr lang="en-US" sz="4400" dirty="0">
                <a:solidFill>
                  <a:srgbClr val="000000"/>
                </a:solidFill>
                <a:latin typeface="Arial" pitchFamily="34" charset="0"/>
                <a:ea typeface="Arial" pitchFamily="34" charset="-122"/>
                <a:cs typeface="Arial" pitchFamily="34" charset="-120"/>
              </a:defRPr>
            </a:lvl1pPr>
          </a:lstStyle>
          <a:p>
            <a:pPr algn="l" indent="0" marL="0">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236976"/>
            <a:ext cx="7187184" cy="576072"/>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566928" y="3931920"/>
            <a:ext cx="7187184" cy="18653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566928" y="5998464"/>
            <a:ext cx="3035808" cy="219456"/>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p:nvPr>
            <p:ph idx="105" type="body" hasCustomPrompt="1"/>
          </p:nvPr>
        </p:nvSpPr>
        <p:spPr>
          <a:xfrm>
            <a:off x="566928" y="1499616"/>
            <a:ext cx="5532120" cy="237744"/>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p:nvPr>
            <p:ph idx="106" type="body" hasCustomPrompt="1"/>
          </p:nvPr>
        </p:nvSpPr>
        <p:spPr>
          <a:xfrm>
            <a:off x="7159752" y="356616"/>
            <a:ext cx="4471416" cy="237744"/>
          </a:xfrm>
          <a:prstGeom prst="rect">
            <a:avLst/>
          </a:prstGeom>
          <a:noFill/>
          <a:ln/>
        </p:spPr>
        <p:txBody>
          <a:bodyPr wrap="square" rtlCol="0"/>
          <a:lstStyle>
            <a:lvl1pPr algn="r" indent="0" marL="0">
              <a:buNone/>
              <a:defRPr lang="en-US" sz="1200" b="1" dirty="0">
                <a:solidFill>
                  <a:srgbClr val="D6002A"/>
                </a:solidFill>
                <a:latin typeface="Arial" pitchFamily="34" charset="0"/>
                <a:ea typeface="Arial" pitchFamily="34" charset="-122"/>
                <a:cs typeface="Arial" pitchFamily="34" charset="-120"/>
              </a:defRPr>
            </a:lvl1pPr>
          </a:lstStyle>
          <a:p>
            <a:pPr algn="r" indent="0" marL="0">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p:nvPr>
            <p:ph idx="107" hasCustomPrompt="1"/>
          </p:nvPr>
        </p:nvSpPr>
        <p:spPr>
          <a:xfrm>
            <a:off x="7909560" y="1289304"/>
            <a:ext cx="4288536" cy="4928616"/>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Horizons_Title White - reports and presentations (hIH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d5ad6bd8e70d69ecacac889180eb7b80.png">    </p:cNvPr>
          <p:cNvPicPr>
            <a:picLocks noChangeAspect="1"/>
          </p:cNvPicPr>
          <p:nvPr/>
        </p:nvPicPr>
        <p:blipFill>
          <a:blip r:embed="rId1"/>
          <a:stretch>
            <a:fillRect/>
          </a:stretch>
        </p:blipFill>
        <p:spPr>
          <a:xfrm>
            <a:off x="374904" y="164592"/>
            <a:ext cx="1719072" cy="1344168"/>
          </a:xfrm>
          <a:prstGeom prst="rect">
            <a:avLst/>
          </a:prstGeom>
        </p:spPr>
      </p:pic>
      <p:sp>
        <p:nvSpPr>
          <p:cNvPr id="3" name="Text 0"/>
          <p:cNvSpPr/>
          <p:nvPr>
            <p:ph idx="101" type="title" hasCustomPrompt="1"/>
          </p:nvPr>
        </p:nvSpPr>
        <p:spPr>
          <a:xfrm>
            <a:off x="566928" y="1929384"/>
            <a:ext cx="7187184" cy="1207008"/>
          </a:xfrm>
          <a:prstGeom prst="rect">
            <a:avLst/>
          </a:prstGeom>
          <a:noFill/>
          <a:ln/>
        </p:spPr>
        <p:txBody>
          <a:bodyPr wrap="square" rtlCol="0"/>
          <a:lstStyle>
            <a:lvl1pPr algn="l" indent="0" marL="0">
              <a:buNone/>
              <a:defRPr lang="en-US" sz="4400" dirty="0">
                <a:solidFill>
                  <a:srgbClr val="000000"/>
                </a:solidFill>
                <a:latin typeface="Arial" pitchFamily="34" charset="0"/>
                <a:ea typeface="Arial" pitchFamily="34" charset="-122"/>
                <a:cs typeface="Arial" pitchFamily="34" charset="-120"/>
              </a:defRPr>
            </a:lvl1pPr>
          </a:lstStyle>
          <a:p>
            <a:pPr algn="l" indent="0" marL="0">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236976"/>
            <a:ext cx="7187184" cy="576072"/>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566928" y="3931920"/>
            <a:ext cx="7187184" cy="18653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566928" y="5998464"/>
            <a:ext cx="3035808" cy="219456"/>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p:nvPr>
            <p:ph idx="105" type="body" hasCustomPrompt="1"/>
          </p:nvPr>
        </p:nvSpPr>
        <p:spPr>
          <a:xfrm>
            <a:off x="566928" y="1499616"/>
            <a:ext cx="5532120" cy="237744"/>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p:nvPr>
            <p:ph idx="106" type="body" hasCustomPrompt="1"/>
          </p:nvPr>
        </p:nvSpPr>
        <p:spPr>
          <a:xfrm>
            <a:off x="7159752" y="356616"/>
            <a:ext cx="4471416" cy="237744"/>
          </a:xfrm>
          <a:prstGeom prst="rect">
            <a:avLst/>
          </a:prstGeom>
          <a:noFill/>
          <a:ln/>
        </p:spPr>
        <p:txBody>
          <a:bodyPr wrap="square" rtlCol="0"/>
          <a:lstStyle>
            <a:lvl1pPr algn="r" indent="0" marL="0">
              <a:buNone/>
              <a:defRPr lang="en-US" sz="1200" b="1" dirty="0">
                <a:solidFill>
                  <a:srgbClr val="D6002A"/>
                </a:solidFill>
                <a:latin typeface="Arial" pitchFamily="34" charset="0"/>
                <a:ea typeface="Arial" pitchFamily="34" charset="-122"/>
                <a:cs typeface="Arial" pitchFamily="34" charset="-120"/>
              </a:defRPr>
            </a:lvl1pPr>
          </a:lstStyle>
          <a:p>
            <a:pPr algn="r" indent="0" marL="0">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p:nvPr>
            <p:ph idx="107" hasCustomPrompt="1"/>
          </p:nvPr>
        </p:nvSpPr>
        <p:spPr>
          <a:xfrm>
            <a:off x="7909560" y="1289304"/>
            <a:ext cx="4288536" cy="4928616"/>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latts_Title White - reports and presentations (hIH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4d39cb318de5e8de65c68c5582d34fa3.png">    </p:cNvPr>
          <p:cNvPicPr>
            <a:picLocks noChangeAspect="1"/>
          </p:cNvPicPr>
          <p:nvPr/>
        </p:nvPicPr>
        <p:blipFill>
          <a:blip r:embed="rId1"/>
          <a:stretch>
            <a:fillRect/>
          </a:stretch>
        </p:blipFill>
        <p:spPr>
          <a:xfrm>
            <a:off x="374904" y="164592"/>
            <a:ext cx="1719072" cy="1344168"/>
          </a:xfrm>
          <a:prstGeom prst="rect">
            <a:avLst/>
          </a:prstGeom>
        </p:spPr>
      </p:pic>
      <p:sp>
        <p:nvSpPr>
          <p:cNvPr id="3" name="Text 0"/>
          <p:cNvSpPr/>
          <p:nvPr>
            <p:ph idx="101" type="title" hasCustomPrompt="1"/>
          </p:nvPr>
        </p:nvSpPr>
        <p:spPr>
          <a:xfrm>
            <a:off x="566928" y="1929384"/>
            <a:ext cx="7187184" cy="1207008"/>
          </a:xfrm>
          <a:prstGeom prst="rect">
            <a:avLst/>
          </a:prstGeom>
          <a:noFill/>
          <a:ln/>
        </p:spPr>
        <p:txBody>
          <a:bodyPr wrap="square" rtlCol="0"/>
          <a:lstStyle>
            <a:lvl1pPr algn="l" indent="0" marL="0">
              <a:buNone/>
              <a:defRPr lang="en-US" sz="4400" dirty="0">
                <a:solidFill>
                  <a:srgbClr val="000000"/>
                </a:solidFill>
                <a:latin typeface="Arial" pitchFamily="34" charset="0"/>
                <a:ea typeface="Arial" pitchFamily="34" charset="-122"/>
                <a:cs typeface="Arial" pitchFamily="34" charset="-120"/>
              </a:defRPr>
            </a:lvl1pPr>
          </a:lstStyle>
          <a:p>
            <a:pPr algn="l" indent="0" marL="0">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236976"/>
            <a:ext cx="7187184" cy="576072"/>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566928" y="3931920"/>
            <a:ext cx="7187184" cy="186537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566928" y="5998464"/>
            <a:ext cx="3035808" cy="219456"/>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p:nvPr>
            <p:ph idx="105" type="body" hasCustomPrompt="1"/>
          </p:nvPr>
        </p:nvSpPr>
        <p:spPr>
          <a:xfrm>
            <a:off x="566928" y="1499616"/>
            <a:ext cx="5532120" cy="237744"/>
          </a:xfrm>
          <a:prstGeom prst="rect">
            <a:avLst/>
          </a:prstGeom>
          <a:noFill/>
          <a:ln/>
        </p:spPr>
        <p:txBody>
          <a:bodyPr wrap="square" rtlCol="0"/>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p:nvPr>
            <p:ph idx="106" type="body" hasCustomPrompt="1"/>
          </p:nvPr>
        </p:nvSpPr>
        <p:spPr>
          <a:xfrm>
            <a:off x="7159752" y="356616"/>
            <a:ext cx="4471416" cy="237744"/>
          </a:xfrm>
          <a:prstGeom prst="rect">
            <a:avLst/>
          </a:prstGeom>
          <a:noFill/>
          <a:ln/>
        </p:spPr>
        <p:txBody>
          <a:bodyPr wrap="square" rtlCol="0"/>
          <a:lstStyle>
            <a:lvl1pPr algn="r" indent="0" marL="0">
              <a:buNone/>
              <a:defRPr lang="en-US" sz="1200" b="1" dirty="0">
                <a:solidFill>
                  <a:srgbClr val="D6002A"/>
                </a:solidFill>
                <a:latin typeface="Arial" pitchFamily="34" charset="0"/>
                <a:ea typeface="Arial" pitchFamily="34" charset="-122"/>
                <a:cs typeface="Arial" pitchFamily="34" charset="-120"/>
              </a:defRPr>
            </a:lvl1pPr>
          </a:lstStyle>
          <a:p>
            <a:pPr algn="r" indent="0" marL="0">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p:nvPr>
            <p:ph idx="107" hasCustomPrompt="1"/>
          </p:nvPr>
        </p:nvSpPr>
        <p:spPr>
          <a:xfrm>
            <a:off x="7909560" y="1289304"/>
            <a:ext cx="4288536" cy="4928616"/>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Image Bottom">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fd6ac17e8cb753e1865b09a3b5a17939.png">    </p:cNvPr>
          <p:cNvPicPr>
            <a:picLocks noChangeAspect="1"/>
          </p:cNvPicPr>
          <p:nvPr/>
        </p:nvPicPr>
        <p:blipFill>
          <a:blip r:embed="rId1"/>
          <a:stretch>
            <a:fillRect/>
          </a:stretch>
        </p:blipFill>
        <p:spPr>
          <a:xfrm>
            <a:off x="374904" y="173736"/>
            <a:ext cx="2724912" cy="960120"/>
          </a:xfrm>
          <a:prstGeom prst="rect">
            <a:avLst/>
          </a:prstGeom>
        </p:spPr>
      </p:pic>
      <p:sp>
        <p:nvSpPr>
          <p:cNvPr id="3" name="Text 0"/>
          <p:cNvSpPr/>
          <p:nvPr>
            <p:ph idx="101" type="title" hasCustomPrompt="1"/>
          </p:nvPr>
        </p:nvSpPr>
        <p:spPr>
          <a:xfrm>
            <a:off x="566928" y="1289304"/>
            <a:ext cx="7114032" cy="1773936"/>
          </a:xfrm>
          <a:prstGeom prst="rect">
            <a:avLst/>
          </a:prstGeom>
          <a:noFill/>
          <a:ln/>
        </p:spPr>
        <p:txBody>
          <a:bodyPr wrap="square" rtlCol="0"/>
          <a:lstStyle>
            <a:lvl1pPr algn="l" indent="0" marL="0">
              <a:buNone/>
              <a:defRPr lang="en-US" sz="4400" dirty="0">
                <a:solidFill>
                  <a:srgbClr val="FFFFFF"/>
                </a:solidFill>
                <a:latin typeface="Arial" pitchFamily="34" charset="0"/>
                <a:ea typeface="Arial" pitchFamily="34" charset="-122"/>
                <a:cs typeface="Arial" pitchFamily="34" charset="-120"/>
              </a:defRPr>
            </a:lvl1pPr>
          </a:lstStyle>
          <a:p>
            <a:pPr algn="l" indent="0" marL="0">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163824"/>
            <a:ext cx="7114032" cy="310896"/>
          </a:xfrm>
          <a:prstGeom prst="rect">
            <a:avLst/>
          </a:prstGeom>
          <a:noFill/>
          <a:ln/>
        </p:spPr>
        <p:txBody>
          <a:bodyPr wrap="square" rtlCol="0"/>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8595360" y="1463040"/>
            <a:ext cx="3035808" cy="1600200"/>
          </a:xfrm>
          <a:prstGeom prst="rect">
            <a:avLst/>
          </a:prstGeom>
          <a:noFill/>
          <a:ln/>
        </p:spPr>
        <p:txBody>
          <a:bodyPr wrap="square" rtlCol="0"/>
          <a:lstStyle>
            <a:lvl1pPr algn="l" indent="0" marL="0">
              <a:buNone/>
              <a:defRPr lang="en-US" sz="1600" dirty="0">
                <a:solidFill>
                  <a:srgbClr val="FFFFFF"/>
                </a:solidFill>
                <a:latin typeface="Arial" pitchFamily="34" charset="0"/>
                <a:ea typeface="Arial" pitchFamily="34" charset="-122"/>
                <a:cs typeface="Arial" pitchFamily="34" charset="-120"/>
              </a:defRPr>
            </a:lvl1pPr>
          </a:lstStyle>
          <a:p>
            <a:pPr algn="l" indent="0" marL="0">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8595360" y="3145536"/>
            <a:ext cx="3035808" cy="237744"/>
          </a:xfrm>
          <a:prstGeom prst="rect">
            <a:avLst/>
          </a:prstGeom>
          <a:noFill/>
          <a:ln/>
        </p:spPr>
        <p:txBody>
          <a:bodyPr wrap="square" rtlCol="0"/>
          <a:lstStyle>
            <a:lvl1pPr algn="l" indent="0" marL="0">
              <a:buNone/>
              <a:defRPr lang="en-US" sz="1200" dirty="0">
                <a:solidFill>
                  <a:srgbClr val="FFFFFF"/>
                </a:solidFill>
                <a:latin typeface="Arial" pitchFamily="34" charset="0"/>
                <a:ea typeface="Arial" pitchFamily="34" charset="-122"/>
                <a:cs typeface="Arial" pitchFamily="34" charset="-120"/>
              </a:defRPr>
            </a:lvl1pPr>
          </a:lstStyle>
          <a:p>
            <a:pPr algn="l" indent="0" marL="0">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p:nvPr>
            <p:ph idx="105" hasCustomPrompt="1"/>
          </p:nvPr>
        </p:nvSpPr>
        <p:spPr>
          <a:xfrm>
            <a:off x="0" y="3694176"/>
            <a:ext cx="12188952" cy="3163824"/>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ERA_Title Image Bottom">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d12e3b8f6dbebecab0c45e7c9c74af84.png">    </p:cNvPr>
          <p:cNvPicPr>
            <a:picLocks noChangeAspect="1"/>
          </p:cNvPicPr>
          <p:nvPr/>
        </p:nvPicPr>
        <p:blipFill>
          <a:blip r:embed="rId1"/>
          <a:stretch>
            <a:fillRect/>
          </a:stretch>
        </p:blipFill>
        <p:spPr>
          <a:xfrm>
            <a:off x="374904" y="164592"/>
            <a:ext cx="1719072" cy="1344168"/>
          </a:xfrm>
          <a:prstGeom prst="rect">
            <a:avLst/>
          </a:prstGeom>
        </p:spPr>
      </p:pic>
      <p:sp>
        <p:nvSpPr>
          <p:cNvPr id="3" name="Text 0"/>
          <p:cNvSpPr/>
          <p:nvPr>
            <p:ph idx="101" type="title" hasCustomPrompt="1"/>
          </p:nvPr>
        </p:nvSpPr>
        <p:spPr>
          <a:xfrm>
            <a:off x="566928" y="1463040"/>
            <a:ext cx="7114032" cy="1600200"/>
          </a:xfrm>
          <a:prstGeom prst="rect">
            <a:avLst/>
          </a:prstGeom>
          <a:noFill/>
          <a:ln/>
        </p:spPr>
        <p:txBody>
          <a:bodyPr wrap="square" rtlCol="0"/>
          <a:lstStyle>
            <a:lvl1pPr algn="l" indent="0" marL="0">
              <a:buNone/>
              <a:defRPr lang="en-US" sz="4400" dirty="0">
                <a:solidFill>
                  <a:srgbClr val="FFFFFF"/>
                </a:solidFill>
                <a:latin typeface="Arial" pitchFamily="34" charset="0"/>
                <a:ea typeface="Arial" pitchFamily="34" charset="-122"/>
                <a:cs typeface="Arial" pitchFamily="34" charset="-120"/>
              </a:defRPr>
            </a:lvl1pPr>
          </a:lstStyle>
          <a:p>
            <a:pPr algn="l" indent="0" marL="0">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163824"/>
            <a:ext cx="7114032" cy="310896"/>
          </a:xfrm>
          <a:prstGeom prst="rect">
            <a:avLst/>
          </a:prstGeom>
          <a:noFill/>
          <a:ln/>
        </p:spPr>
        <p:txBody>
          <a:bodyPr wrap="square" rtlCol="0"/>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8595360" y="1463040"/>
            <a:ext cx="3035808" cy="1600200"/>
          </a:xfrm>
          <a:prstGeom prst="rect">
            <a:avLst/>
          </a:prstGeom>
          <a:noFill/>
          <a:ln/>
        </p:spPr>
        <p:txBody>
          <a:bodyPr wrap="square" rtlCol="0"/>
          <a:lstStyle>
            <a:lvl1pPr algn="l" indent="0" marL="0">
              <a:buNone/>
              <a:defRPr lang="en-US" sz="1600" dirty="0">
                <a:solidFill>
                  <a:srgbClr val="FFFFFF"/>
                </a:solidFill>
                <a:latin typeface="Arial" pitchFamily="34" charset="0"/>
                <a:ea typeface="Arial" pitchFamily="34" charset="-122"/>
                <a:cs typeface="Arial" pitchFamily="34" charset="-120"/>
              </a:defRPr>
            </a:lvl1pPr>
          </a:lstStyle>
          <a:p>
            <a:pPr algn="l" indent="0" marL="0">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8595360" y="3145536"/>
            <a:ext cx="3035808" cy="237744"/>
          </a:xfrm>
          <a:prstGeom prst="rect">
            <a:avLst/>
          </a:prstGeom>
          <a:noFill/>
          <a:ln/>
        </p:spPr>
        <p:txBody>
          <a:bodyPr wrap="square" rtlCol="0"/>
          <a:lstStyle>
            <a:lvl1pPr algn="l" indent="0" marL="0">
              <a:buNone/>
              <a:defRPr lang="en-US" sz="1200" dirty="0">
                <a:solidFill>
                  <a:srgbClr val="FFFFFF"/>
                </a:solidFill>
                <a:latin typeface="Arial" pitchFamily="34" charset="0"/>
                <a:ea typeface="Arial" pitchFamily="34" charset="-122"/>
                <a:cs typeface="Arial" pitchFamily="34" charset="-120"/>
              </a:defRPr>
            </a:lvl1pPr>
          </a:lstStyle>
          <a:p>
            <a:pPr algn="l" indent="0" marL="0">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p:nvPr>
            <p:ph idx="105" hasCustomPrompt="1"/>
          </p:nvPr>
        </p:nvSpPr>
        <p:spPr>
          <a:xfrm>
            <a:off x="0" y="3694176"/>
            <a:ext cx="12188952" cy="3163824"/>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Horizons_Title Image Bottom">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709817fd1c126c2f0bf173c6d1e55147.png">    </p:cNvPr>
          <p:cNvPicPr>
            <a:picLocks noChangeAspect="1"/>
          </p:cNvPicPr>
          <p:nvPr/>
        </p:nvPicPr>
        <p:blipFill>
          <a:blip r:embed="rId1"/>
          <a:stretch>
            <a:fillRect/>
          </a:stretch>
        </p:blipFill>
        <p:spPr>
          <a:xfrm>
            <a:off x="374904" y="164592"/>
            <a:ext cx="1719072" cy="1344168"/>
          </a:xfrm>
          <a:prstGeom prst="rect">
            <a:avLst/>
          </a:prstGeom>
        </p:spPr>
      </p:pic>
      <p:sp>
        <p:nvSpPr>
          <p:cNvPr id="3" name="Text 0"/>
          <p:cNvSpPr/>
          <p:nvPr>
            <p:ph idx="101" type="title" hasCustomPrompt="1"/>
          </p:nvPr>
        </p:nvSpPr>
        <p:spPr>
          <a:xfrm>
            <a:off x="566928" y="1463040"/>
            <a:ext cx="7114032" cy="1600200"/>
          </a:xfrm>
          <a:prstGeom prst="rect">
            <a:avLst/>
          </a:prstGeom>
          <a:noFill/>
          <a:ln/>
        </p:spPr>
        <p:txBody>
          <a:bodyPr wrap="square" rtlCol="0"/>
          <a:lstStyle>
            <a:lvl1pPr algn="l" indent="0" marL="0">
              <a:buNone/>
              <a:defRPr lang="en-US" sz="4400" dirty="0">
                <a:solidFill>
                  <a:srgbClr val="FFFFFF"/>
                </a:solidFill>
                <a:latin typeface="Arial" pitchFamily="34" charset="0"/>
                <a:ea typeface="Arial" pitchFamily="34" charset="-122"/>
                <a:cs typeface="Arial" pitchFamily="34" charset="-120"/>
              </a:defRPr>
            </a:lvl1pPr>
          </a:lstStyle>
          <a:p>
            <a:pPr algn="l" indent="0" marL="0">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163824"/>
            <a:ext cx="7114032" cy="310896"/>
          </a:xfrm>
          <a:prstGeom prst="rect">
            <a:avLst/>
          </a:prstGeom>
          <a:noFill/>
          <a:ln/>
        </p:spPr>
        <p:txBody>
          <a:bodyPr wrap="square" rtlCol="0"/>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8595360" y="1463040"/>
            <a:ext cx="3035808" cy="1600200"/>
          </a:xfrm>
          <a:prstGeom prst="rect">
            <a:avLst/>
          </a:prstGeom>
          <a:noFill/>
          <a:ln/>
        </p:spPr>
        <p:txBody>
          <a:bodyPr wrap="square" rtlCol="0"/>
          <a:lstStyle>
            <a:lvl1pPr algn="l" indent="0" marL="0">
              <a:buNone/>
              <a:defRPr lang="en-US" sz="1600" dirty="0">
                <a:solidFill>
                  <a:srgbClr val="FFFFFF"/>
                </a:solidFill>
                <a:latin typeface="Arial" pitchFamily="34" charset="0"/>
                <a:ea typeface="Arial" pitchFamily="34" charset="-122"/>
                <a:cs typeface="Arial" pitchFamily="34" charset="-120"/>
              </a:defRPr>
            </a:lvl1pPr>
          </a:lstStyle>
          <a:p>
            <a:pPr algn="l" indent="0" marL="0">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8595360" y="3145536"/>
            <a:ext cx="3035808" cy="237744"/>
          </a:xfrm>
          <a:prstGeom prst="rect">
            <a:avLst/>
          </a:prstGeom>
          <a:noFill/>
          <a:ln/>
        </p:spPr>
        <p:txBody>
          <a:bodyPr wrap="square" rtlCol="0"/>
          <a:lstStyle>
            <a:lvl1pPr algn="l" indent="0" marL="0">
              <a:buNone/>
              <a:defRPr lang="en-US" sz="1200" dirty="0">
                <a:solidFill>
                  <a:srgbClr val="FFFFFF"/>
                </a:solidFill>
                <a:latin typeface="Arial" pitchFamily="34" charset="0"/>
                <a:ea typeface="Arial" pitchFamily="34" charset="-122"/>
                <a:cs typeface="Arial" pitchFamily="34" charset="-120"/>
              </a:defRPr>
            </a:lvl1pPr>
          </a:lstStyle>
          <a:p>
            <a:pPr algn="l" indent="0" marL="0">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p:nvPr>
            <p:ph idx="105" hasCustomPrompt="1"/>
          </p:nvPr>
        </p:nvSpPr>
        <p:spPr>
          <a:xfrm>
            <a:off x="0" y="3694176"/>
            <a:ext cx="12188952" cy="3163824"/>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latts_Title Image Bottom">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a8be852af5cccc34acc8bf6c1e367535.png">    </p:cNvPr>
          <p:cNvPicPr>
            <a:picLocks noChangeAspect="1"/>
          </p:cNvPicPr>
          <p:nvPr/>
        </p:nvPicPr>
        <p:blipFill>
          <a:blip r:embed="rId1"/>
          <a:stretch>
            <a:fillRect/>
          </a:stretch>
        </p:blipFill>
        <p:spPr>
          <a:xfrm>
            <a:off x="374904" y="164592"/>
            <a:ext cx="1719072" cy="1344168"/>
          </a:xfrm>
          <a:prstGeom prst="rect">
            <a:avLst/>
          </a:prstGeom>
        </p:spPr>
      </p:pic>
      <p:sp>
        <p:nvSpPr>
          <p:cNvPr id="3" name="Text 0"/>
          <p:cNvSpPr/>
          <p:nvPr>
            <p:ph idx="101" type="title" hasCustomPrompt="1"/>
          </p:nvPr>
        </p:nvSpPr>
        <p:spPr>
          <a:xfrm>
            <a:off x="566928" y="1463040"/>
            <a:ext cx="7114032" cy="1600200"/>
          </a:xfrm>
          <a:prstGeom prst="rect">
            <a:avLst/>
          </a:prstGeom>
          <a:noFill/>
          <a:ln/>
        </p:spPr>
        <p:txBody>
          <a:bodyPr wrap="square" rtlCol="0"/>
          <a:lstStyle>
            <a:lvl1pPr algn="l" indent="0" marL="0">
              <a:buNone/>
              <a:defRPr lang="en-US" sz="4400" dirty="0">
                <a:solidFill>
                  <a:srgbClr val="FFFFFF"/>
                </a:solidFill>
                <a:latin typeface="Arial" pitchFamily="34" charset="0"/>
                <a:ea typeface="Arial" pitchFamily="34" charset="-122"/>
                <a:cs typeface="Arial" pitchFamily="34" charset="-120"/>
              </a:defRPr>
            </a:lvl1pPr>
          </a:lstStyle>
          <a:p>
            <a:pPr algn="l" indent="0" marL="0">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566928" y="3163824"/>
            <a:ext cx="7114032" cy="310896"/>
          </a:xfrm>
          <a:prstGeom prst="rect">
            <a:avLst/>
          </a:prstGeom>
          <a:noFill/>
          <a:ln/>
        </p:spPr>
        <p:txBody>
          <a:bodyPr wrap="square" rtlCol="0"/>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8595360" y="1463040"/>
            <a:ext cx="3035808" cy="1600200"/>
          </a:xfrm>
          <a:prstGeom prst="rect">
            <a:avLst/>
          </a:prstGeom>
          <a:noFill/>
          <a:ln/>
        </p:spPr>
        <p:txBody>
          <a:bodyPr wrap="square" rtlCol="0"/>
          <a:lstStyle>
            <a:lvl1pPr algn="l" indent="0" marL="0">
              <a:buNone/>
              <a:defRPr lang="en-US" sz="1600" dirty="0">
                <a:solidFill>
                  <a:srgbClr val="FFFFFF"/>
                </a:solidFill>
                <a:latin typeface="Arial" pitchFamily="34" charset="0"/>
                <a:ea typeface="Arial" pitchFamily="34" charset="-122"/>
                <a:cs typeface="Arial" pitchFamily="34" charset="-120"/>
              </a:defRPr>
            </a:lvl1pPr>
          </a:lstStyle>
          <a:p>
            <a:pPr algn="l" indent="0" marL="0">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8595360" y="3145536"/>
            <a:ext cx="3035808" cy="237744"/>
          </a:xfrm>
          <a:prstGeom prst="rect">
            <a:avLst/>
          </a:prstGeom>
          <a:noFill/>
          <a:ln/>
        </p:spPr>
        <p:txBody>
          <a:bodyPr wrap="square" rtlCol="0"/>
          <a:lstStyle>
            <a:lvl1pPr algn="l" indent="0" marL="0">
              <a:buNone/>
              <a:defRPr lang="en-US" sz="1200" dirty="0">
                <a:solidFill>
                  <a:srgbClr val="FFFFFF"/>
                </a:solidFill>
                <a:latin typeface="Arial" pitchFamily="34" charset="0"/>
                <a:ea typeface="Arial" pitchFamily="34" charset="-122"/>
                <a:cs typeface="Arial" pitchFamily="34" charset="-120"/>
              </a:defRPr>
            </a:lvl1pPr>
          </a:lstStyle>
          <a:p>
            <a:pPr algn="l" indent="0" marL="0">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p:nvPr>
            <p:ph idx="105" hasCustomPrompt="1"/>
          </p:nvPr>
        </p:nvSpPr>
        <p:spPr>
          <a:xfrm>
            <a:off x="0" y="3694176"/>
            <a:ext cx="12188952" cy="3163824"/>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a:p>
            <a:pPr algn="r" indent="0" marL="0">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4000" b="1" dirty="0">
                <a:solidFill>
                  <a:srgbClr val="000000"/>
                </a:solidFill>
                <a:latin typeface="Arial" pitchFamily="34" charset="0"/>
                <a:ea typeface="Arial" pitchFamily="34" charset="-122"/>
                <a:cs typeface="Arial" pitchFamily="34" charset="-120"/>
              </a:rPr>
              <a:t>TOC/AGENDA</a:t>
            </a:r>
            <a:endParaRPr lang="en-US" sz="14000"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 Photo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457200"/>
            <a:ext cx="5212080" cy="713232"/>
          </a:xfrm>
          <a:prstGeom prst="rect">
            <a:avLst/>
          </a:prstGeom>
          <a:noFill/>
          <a:ln/>
        </p:spPr>
        <p:txBody>
          <a:bodyPr wrap="square" rtlCol="0"/>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Table of contents</a:t>
            </a:r>
            <a:endParaRPr lang="en-US" sz="4000" dirty="0"/>
          </a:p>
        </p:txBody>
      </p:sp>
      <p:sp>
        <p:nvSpPr>
          <p:cNvPr id="6" name="Text 1"/>
          <p:cNvSpPr/>
          <p:nvPr>
            <p:ph idx="104" type="body" hasCustomPrompt="1"/>
          </p:nvPr>
        </p:nvSpPr>
        <p:spPr>
          <a:xfrm>
            <a:off x="566928" y="1289304"/>
            <a:ext cx="5212080" cy="474573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7" name="Text 1"/>
          <p:cNvSpPr/>
          <p:nvPr>
            <p:ph idx="105" hasCustomPrompt="1"/>
          </p:nvPr>
        </p:nvSpPr>
        <p:spPr>
          <a:xfrm>
            <a:off x="6099048" y="484632"/>
            <a:ext cx="6089904" cy="555955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 - presentatio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694176"/>
            <a:ext cx="3584448" cy="612648"/>
          </a:xfrm>
          <a:prstGeom prst="rect">
            <a:avLst/>
          </a:prstGeom>
          <a:noFill/>
          <a:ln/>
        </p:spPr>
        <p:txBody>
          <a:bodyPr wrap="square" rtlCol="0"/>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Agenda</a:t>
            </a:r>
            <a:endParaRPr lang="en-US" sz="4000" dirty="0"/>
          </a:p>
        </p:txBody>
      </p:sp>
      <p:sp>
        <p:nvSpPr>
          <p:cNvPr id="6" name="Text 1"/>
          <p:cNvSpPr/>
          <p:nvPr>
            <p:ph idx="104" type="body" hasCustomPrompt="1"/>
          </p:nvPr>
        </p:nvSpPr>
        <p:spPr>
          <a:xfrm>
            <a:off x="6611112" y="1956816"/>
            <a:ext cx="5029200" cy="4105656"/>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[Click to add content items]</a:t>
            </a:r>
            <a:endParaRPr lang="en-US" sz="2400" dirty="0"/>
          </a:p>
        </p:txBody>
      </p:sp>
      <p:sp>
        <p:nvSpPr>
          <p:cNvPr id="7" name="Text 1"/>
          <p:cNvSpPr/>
          <p:nvPr>
            <p:ph idx="105"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OC - report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20040"/>
            <a:ext cx="11064240" cy="36576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Table of contents</a:t>
            </a:r>
            <a:endParaRPr lang="en-US" sz="2400" dirty="0"/>
          </a:p>
        </p:txBody>
      </p:sp>
      <p:sp>
        <p:nvSpPr>
          <p:cNvPr id="6" name="Text 1"/>
          <p:cNvSpPr/>
          <p:nvPr>
            <p:ph idx="104" type="body" hasCustomPrompt="1"/>
          </p:nvPr>
        </p:nvSpPr>
        <p:spPr>
          <a:xfrm>
            <a:off x="566928" y="1261872"/>
            <a:ext cx="11064240" cy="4937760"/>
          </a:xfrm>
          <a:prstGeom prst="rect">
            <a:avLst/>
          </a:prstGeom>
          <a:noFill/>
          <a:ln/>
        </p:spPr>
        <p:txBody>
          <a:bodyPr wrap="square" rtlCol="0"/>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7" name="Text 1"/>
          <p:cNvSpPr/>
          <p:nvPr>
            <p:ph idx="105" type="body" hasCustomPrompt="1"/>
          </p:nvPr>
        </p:nvSpPr>
        <p:spPr>
          <a:xfrm>
            <a:off x="6099048" y="0"/>
            <a:ext cx="5532120" cy="320040"/>
          </a:xfrm>
          <a:prstGeom prst="rect">
            <a:avLst/>
          </a:prstGeom>
          <a:noFill/>
          <a:ln/>
        </p:spPr>
        <p:txBody>
          <a:bodyPr wrap="square" rtlCol="0"/>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4000" b="1" dirty="0">
                <a:solidFill>
                  <a:srgbClr val="000000"/>
                </a:solidFill>
                <a:latin typeface="Arial" pitchFamily="34" charset="0"/>
                <a:ea typeface="Arial" pitchFamily="34" charset="-122"/>
                <a:cs typeface="Arial" pitchFamily="34" charset="-120"/>
              </a:rPr>
              <a:t>BIOS</a:t>
            </a:r>
            <a:endParaRPr lang="en-US" sz="14000"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ingle Author">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[Presenter/Moderator/Panelist]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3136392" y="1901952"/>
            <a:ext cx="8494776" cy="2185416"/>
          </a:xfrm>
          <a:prstGeom prst="rect">
            <a:avLst/>
          </a:prstGeom>
          <a:noFill/>
          <a:ln/>
        </p:spPr>
        <p:txBody>
          <a:bodyPr wrap="square" rtlCol="0"/>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[Copy and paste the first paragraph of your bio here]</a:t>
            </a:r>
            <a:endParaRPr lang="en-US" sz="1600" dirty="0"/>
          </a:p>
        </p:txBody>
      </p:sp>
      <p:sp>
        <p:nvSpPr>
          <p:cNvPr id="8" name="Text 1"/>
          <p:cNvSpPr/>
          <p:nvPr>
            <p:ph idx="106" type="body" hasCustomPrompt="1"/>
          </p:nvPr>
        </p:nvSpPr>
        <p:spPr>
          <a:xfrm>
            <a:off x="566928" y="4261104"/>
            <a:ext cx="5513832"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9" name="Text 1"/>
          <p:cNvSpPr/>
          <p:nvPr>
            <p:ph idx="107" type="body" hasCustomPrompt="1"/>
          </p:nvPr>
        </p:nvSpPr>
        <p:spPr>
          <a:xfrm>
            <a:off x="566928" y="4654296"/>
            <a:ext cx="5513832"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0" name="Text 1"/>
          <p:cNvSpPr/>
          <p:nvPr>
            <p:ph idx="108" type="body" hasCustomPrompt="1"/>
          </p:nvPr>
        </p:nvSpPr>
        <p:spPr>
          <a:xfrm>
            <a:off x="566928" y="5120640"/>
            <a:ext cx="5513832"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2 Autho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566928" y="4261104"/>
            <a:ext cx="5513832"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p:nvPr>
            <p:ph idx="106" type="body" hasCustomPrompt="1"/>
          </p:nvPr>
        </p:nvSpPr>
        <p:spPr>
          <a:xfrm>
            <a:off x="566928" y="4654296"/>
            <a:ext cx="5513832"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p:nvPr>
            <p:ph idx="107" type="body" hasCustomPrompt="1"/>
          </p:nvPr>
        </p:nvSpPr>
        <p:spPr>
          <a:xfrm>
            <a:off x="566928" y="5120640"/>
            <a:ext cx="5513832"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p:nvPr>
            <p:ph idx="108" hasCustomPrompt="1"/>
          </p:nvPr>
        </p:nvSpPr>
        <p:spPr>
          <a:xfrm>
            <a:off x="6528816"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1" name="Text 1"/>
          <p:cNvSpPr/>
          <p:nvPr>
            <p:ph idx="109" type="body" hasCustomPrompt="1"/>
          </p:nvPr>
        </p:nvSpPr>
        <p:spPr>
          <a:xfrm>
            <a:off x="6528816" y="4261104"/>
            <a:ext cx="5093208"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p:nvPr>
            <p:ph idx="110" type="body" hasCustomPrompt="1"/>
          </p:nvPr>
        </p:nvSpPr>
        <p:spPr>
          <a:xfrm>
            <a:off x="6528816" y="4654296"/>
            <a:ext cx="5093208"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p:nvPr>
            <p:ph idx="111" type="body" hasCustomPrompt="1"/>
          </p:nvPr>
        </p:nvSpPr>
        <p:spPr>
          <a:xfrm>
            <a:off x="6528816" y="5111496"/>
            <a:ext cx="5093208"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3 Autho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566928" y="4261104"/>
            <a:ext cx="3392424"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p:nvPr>
            <p:ph idx="106" type="body" hasCustomPrompt="1"/>
          </p:nvPr>
        </p:nvSpPr>
        <p:spPr>
          <a:xfrm>
            <a:off x="566928" y="4654296"/>
            <a:ext cx="3392424"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p:nvPr>
            <p:ph idx="107" type="body" hasCustomPrompt="1"/>
          </p:nvPr>
        </p:nvSpPr>
        <p:spPr>
          <a:xfrm>
            <a:off x="566928" y="5120640"/>
            <a:ext cx="3392424"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p:nvPr>
            <p:ph idx="108" hasCustomPrompt="1"/>
          </p:nvPr>
        </p:nvSpPr>
        <p:spPr>
          <a:xfrm>
            <a:off x="44531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1" name="Text 1"/>
          <p:cNvSpPr/>
          <p:nvPr>
            <p:ph idx="109" type="body" hasCustomPrompt="1"/>
          </p:nvPr>
        </p:nvSpPr>
        <p:spPr>
          <a:xfrm>
            <a:off x="4434840" y="4251960"/>
            <a:ext cx="3392424"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p:nvPr>
            <p:ph idx="110" type="body" hasCustomPrompt="1"/>
          </p:nvPr>
        </p:nvSpPr>
        <p:spPr>
          <a:xfrm>
            <a:off x="4434840" y="4654296"/>
            <a:ext cx="3392424"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p:nvPr>
            <p:ph idx="111" type="body" hasCustomPrompt="1"/>
          </p:nvPr>
        </p:nvSpPr>
        <p:spPr>
          <a:xfrm>
            <a:off x="4434840" y="5120640"/>
            <a:ext cx="3392424"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4" name="Text 1"/>
          <p:cNvSpPr/>
          <p:nvPr>
            <p:ph idx="112" hasCustomPrompt="1"/>
          </p:nvPr>
        </p:nvSpPr>
        <p:spPr>
          <a:xfrm>
            <a:off x="8229600"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5" name="Text 1"/>
          <p:cNvSpPr/>
          <p:nvPr>
            <p:ph idx="113" type="body" hasCustomPrompt="1"/>
          </p:nvPr>
        </p:nvSpPr>
        <p:spPr>
          <a:xfrm>
            <a:off x="8229600" y="4261104"/>
            <a:ext cx="3392424"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6" name="Text 1"/>
          <p:cNvSpPr/>
          <p:nvPr>
            <p:ph idx="114" type="body" hasCustomPrompt="1"/>
          </p:nvPr>
        </p:nvSpPr>
        <p:spPr>
          <a:xfrm>
            <a:off x="8229600" y="4654296"/>
            <a:ext cx="3392424"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7" name="Text 1"/>
          <p:cNvSpPr/>
          <p:nvPr>
            <p:ph idx="115" type="body" hasCustomPrompt="1"/>
          </p:nvPr>
        </p:nvSpPr>
        <p:spPr>
          <a:xfrm>
            <a:off x="8229600" y="5120640"/>
            <a:ext cx="3392424"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4 Autho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2026 S&amp;P Global.</a:t>
            </a:r>
            <a:endParaRPr lang="en-US" sz="700" dirty="0"/>
          </a:p>
        </p:txBody>
      </p:sp>
      <p:sp>
        <p:nvSpPr>
          <p:cNvPr id="4" name="Text 1"/>
          <p:cNvSpPr/>
          <p:nvPr>
            <p:ph idx="102"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566928" y="347472"/>
            <a:ext cx="11064240" cy="457200"/>
          </a:xfrm>
          <a:prstGeom prst="rect">
            <a:avLst/>
          </a:prstGeom>
          <a:noFill/>
          <a:ln/>
        </p:spPr>
        <p:txBody>
          <a:bodyPr wrap="square" rtlCol="0"/>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566928" y="4261104"/>
            <a:ext cx="2432304"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p:nvPr>
            <p:ph idx="106" type="body" hasCustomPrompt="1"/>
          </p:nvPr>
        </p:nvSpPr>
        <p:spPr>
          <a:xfrm>
            <a:off x="566928" y="4654296"/>
            <a:ext cx="2432304"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p:nvPr>
            <p:ph idx="107" type="body" hasCustomPrompt="1"/>
          </p:nvPr>
        </p:nvSpPr>
        <p:spPr>
          <a:xfrm>
            <a:off x="566928" y="5120640"/>
            <a:ext cx="2432304"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p:nvPr>
            <p:ph idx="108" hasCustomPrompt="1"/>
          </p:nvPr>
        </p:nvSpPr>
        <p:spPr>
          <a:xfrm>
            <a:off x="344728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1" name="Text 1"/>
          <p:cNvSpPr/>
          <p:nvPr>
            <p:ph idx="109" type="body" hasCustomPrompt="1"/>
          </p:nvPr>
        </p:nvSpPr>
        <p:spPr>
          <a:xfrm>
            <a:off x="3447288" y="4261104"/>
            <a:ext cx="2432304"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p:nvPr>
            <p:ph idx="110" type="body" hasCustomPrompt="1"/>
          </p:nvPr>
        </p:nvSpPr>
        <p:spPr>
          <a:xfrm>
            <a:off x="3447288" y="4654296"/>
            <a:ext cx="2432304"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p:nvPr>
            <p:ph idx="111" type="body" hasCustomPrompt="1"/>
          </p:nvPr>
        </p:nvSpPr>
        <p:spPr>
          <a:xfrm>
            <a:off x="3447288" y="5120640"/>
            <a:ext cx="2432304"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4" name="Text 1"/>
          <p:cNvSpPr/>
          <p:nvPr>
            <p:ph idx="112" hasCustomPrompt="1"/>
          </p:nvPr>
        </p:nvSpPr>
        <p:spPr>
          <a:xfrm>
            <a:off x="6382512"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5" name="Text 1"/>
          <p:cNvSpPr/>
          <p:nvPr>
            <p:ph idx="113" type="body" hasCustomPrompt="1"/>
          </p:nvPr>
        </p:nvSpPr>
        <p:spPr>
          <a:xfrm>
            <a:off x="6327648" y="4261104"/>
            <a:ext cx="2432304"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6" name="Text 1"/>
          <p:cNvSpPr/>
          <p:nvPr>
            <p:ph idx="114" type="body" hasCustomPrompt="1"/>
          </p:nvPr>
        </p:nvSpPr>
        <p:spPr>
          <a:xfrm>
            <a:off x="6327648" y="4654296"/>
            <a:ext cx="2432304"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7" name="Text 1"/>
          <p:cNvSpPr/>
          <p:nvPr>
            <p:ph idx="115" type="body" hasCustomPrompt="1"/>
          </p:nvPr>
        </p:nvSpPr>
        <p:spPr>
          <a:xfrm>
            <a:off x="6327648" y="5120640"/>
            <a:ext cx="2432304"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8" name="Text 1"/>
          <p:cNvSpPr/>
          <p:nvPr>
            <p:ph idx="116" hasCustomPrompt="1"/>
          </p:nvPr>
        </p:nvSpPr>
        <p:spPr>
          <a:xfrm>
            <a:off x="920800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9" name="Text 1"/>
          <p:cNvSpPr/>
          <p:nvPr>
            <p:ph idx="117" type="body" hasCustomPrompt="1"/>
          </p:nvPr>
        </p:nvSpPr>
        <p:spPr>
          <a:xfrm>
            <a:off x="9208008" y="4261104"/>
            <a:ext cx="2432304" cy="329184"/>
          </a:xfrm>
          <a:prstGeom prst="rect">
            <a:avLst/>
          </a:prstGeom>
          <a:noFill/>
          <a:ln/>
        </p:spPr>
        <p:txBody>
          <a:bodyPr wrap="square" rtlCol="0"/>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20" name="Text 1"/>
          <p:cNvSpPr/>
          <p:nvPr>
            <p:ph idx="118" type="body" hasCustomPrompt="1"/>
          </p:nvPr>
        </p:nvSpPr>
        <p:spPr>
          <a:xfrm>
            <a:off x="9208008" y="4654296"/>
            <a:ext cx="2432304" cy="393192"/>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21" name="Text 1"/>
          <p:cNvSpPr/>
          <p:nvPr>
            <p:ph idx="119" type="body" hasCustomPrompt="1"/>
          </p:nvPr>
        </p:nvSpPr>
        <p:spPr>
          <a:xfrm>
            <a:off x="9144000" y="5120640"/>
            <a:ext cx="2615184" cy="329184"/>
          </a:xfrm>
          <a:prstGeom prst="rect">
            <a:avLst/>
          </a:prstGeom>
          <a:noFill/>
          <a:ln/>
        </p:spPr>
        <p:txBody>
          <a:bodyPr wrap="square" rtlCol="0"/>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7200" b="1" dirty="0">
                <a:solidFill>
                  <a:srgbClr val="000000"/>
                </a:solidFill>
                <a:latin typeface="Arial" pitchFamily="34" charset="0"/>
                <a:ea typeface="Arial" pitchFamily="34" charset="-122"/>
                <a:cs typeface="Arial" pitchFamily="34" charset="-120"/>
              </a:rPr>
              <a:t>Disclaimers</a:t>
            </a:r>
            <a:endParaRPr lang="en-US" sz="7200" dirty="0"/>
          </a:p>
          <a:p>
            <a:pPr algn="ctr" indent="0" marL="0">
              <a:buNone/>
            </a:pPr>
            <a:r>
              <a:rPr lang="en-US" sz="7200" b="1" dirty="0">
                <a:solidFill>
                  <a:srgbClr val="000000"/>
                </a:solidFill>
                <a:latin typeface="Arial" pitchFamily="34" charset="0"/>
                <a:ea typeface="Arial" pitchFamily="34" charset="-122"/>
                <a:cs typeface="Arial" pitchFamily="34" charset="-120"/>
              </a:rPr>
              <a:t>Must be included at the end of every deliverable</a:t>
            </a:r>
            <a:endParaRPr lang="en-US" sz="7200"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Market Intelligence_Spark">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ph idx="101" hasCustomPrompt="1"/>
          </p:nvPr>
        </p:nvSpPr>
        <p:spPr>
          <a:xfrm>
            <a:off x="1132027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4" name="Text 0"/>
          <p:cNvSpPr/>
          <p:nvPr/>
        </p:nvSpPr>
        <p:spPr>
          <a:xfrm>
            <a:off x="557784" y="347472"/>
            <a:ext cx="11082528" cy="5888736"/>
          </a:xfrm>
          <a:prstGeom prst="rect">
            <a:avLst/>
          </a:prstGeom>
          <a:noFill/>
          <a:ln/>
        </p:spPr>
        <p:txBody>
          <a:bodyPr wrap="square" lIns="0" tIns="0" rIns="0" bIns="0" rtlCol="0" anchor="ctr"/>
          <a:lstStyle/>
          <a:p>
            <a:pPr algn="l" indent="0" marL="0">
              <a:buNone/>
            </a:pPr>
            <a:r>
              <a:rPr lang="en-US" sz="1000" dirty="0">
                <a:solidFill>
                  <a:srgbClr val="000000"/>
                </a:solidFill>
                <a:latin typeface="Arial" pitchFamily="34" charset="0"/>
                <a:ea typeface="Arial" pitchFamily="34" charset="-122"/>
                <a:cs typeface="Arial" pitchFamily="34" charset="-120"/>
              </a:rPr>
              <a:t>Copyright © 2026 by S&amp;P Global Market Intelligence, a division of S&amp;P Global Inc. All rights reserved.</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These materials have been prepared solely for information purposes based upon information generally available to the public and from sources believed to be reliable. No content (including index data, ratings, credit-related analyses and data, research, model, software or other application or output therefrom) or any part thereof (Content) may be modified, reverse engineered, reproduced or distributed in any form by any means, or stored in a database or retrieval system, without the prior written permission of S&amp;P Global Market Intelligence or its affiliates (collectively, S&amp;P Global). The Content shall not be used for any unlawful or unauthorized purposes. S&amp;P Global and any third-party providers, (collectively S&amp;P Global Parties) do not guarantee the accuracy, completeness, timeliness or availability of the Content. S&amp;P Global Parties are not responsible for any errors or omissions, regardless of the cause, for the results obtained from the use of the Content. THE CONTENT IS PROVIDED ON "AS IS" BASIS. S&amp;P GLOBAL PARTIES DISCLAIM ANY AND ALL EXPRESS OR IMPLIED WARRANTIES, INCLUDING, BUT NOT LIMITED TO, ANY WARRANTIES OF MERCHANTABILITY OR FITNESS FOR A PARTICULAR PURPOSE OR USE, FREEDOM FROM BUGS, SOFTWARE ERRORS OR DEFECTS, THAT THE CONTENT'S FUNCTIONING WILL BE UNINTERRUPTED OR THAT THE CONTENT WILL OPERATE WITH ANY SOFTWARE OR HARDWARE CONFIGURATION. In no event shall S&amp;P Global Parties be liable to any party for any direct, indirect, incidental, exemplary, compensatory, punitive, special or consequential damages, costs, expenses, legal fees, or losses (including, without limitation, lost income or lost profits and opportunity costs or losses caused by negligence) in connection with any use of the Content even if advised of the possibility of such damages.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Market Intelligence's opinions, quotes and credit-related and other analyses are statements of opinion as of the date they are expressed and not statements of fact or recommendations to purchase, hold, or sell any securities or to make any investment decisions, and do not address the suitability of any security. S&amp;P Global Market Intelligence may provide index data. Direct investment in an index is not possible. Exposure to an asset class represented by an index is available through investable instruments based on that index. S&amp;P Global Market Intelligence assumes no obligation to update the Content following publication in any form or format. The Content should not be relied on and is not a substitute for the skill, judgment and experience of the user, its management, employees, advisors and/or clients when making investment and other business decisions. S&amp;P Global Market Intelligence does not endorse companies, technologies, products, services, or solutions.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keeps certain activities of its divisions separate from each other in order to preserve the independence and objectivity of their respective activities. As a result, certain divisions of S&amp;P Global may have information that is not available to other S&amp;P Global divisions. S&amp;P Global has established policies and procedures to maintain the confidentiality of certain non-public information received in connection with each analytical process.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may receive compensation for its ratings and certain analyses, normally from issuers or underwriters of securities or from obligors. S&amp;P Global reserves the right to disseminate its opinions and analyses. S&amp;P Global's public ratings and analyses are made available on its websites, www.standardandpoors.com (free of charge) and www.ratingsdirect.com (subscription), and may be distributed through other means, including via S&amp;P Global publications and third-party redistributors. Additional information about our ratings fees is available at www.standardandpoors.com/usratingsfees.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This content was created with the assistance of Kensho Spark Assist, an artificial intelligence (AI) tool. For complete Terms of Use, see https://www.spglobal.com/en/terms-of-use.</a:t>
            </a:r>
            <a:endParaRPr lang="en-US" sz="1000"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    ">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C7DAE0"/>
          </a:solidFill>
          <a:ln/>
        </p:spPr>
        <p:txBody>
          <a:bodyPr wrap="square" rtlCol="0" anchor="ctr"/>
          <a:lstStyle/>
          <a:p>
            <a:pPr algn="ctr" indent="0" marL="0">
              <a:buNone/>
            </a:pPr>
            <a:r>
              <a:rPr lang="en-US" sz="11500" b="1" dirty="0">
                <a:solidFill>
                  <a:srgbClr val="000000"/>
                </a:solidFill>
                <a:latin typeface="Arial" pitchFamily="34" charset="0"/>
                <a:ea typeface="Arial" pitchFamily="34" charset="-122"/>
                <a:cs typeface="Arial" pitchFamily="34" charset="-120"/>
              </a:rPr>
              <a:t>DO NOT USE LAYOUTS AFTER THIS!</a:t>
            </a:r>
            <a:endParaRPr lang="en-US" sz="1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svg+xml;base64,phn2zyb3awr0ad0inziiighlawdodd0inziiihhtbg5zpsjodhrwoi8vd3d3lnczlm9yzy8ymdawl3n2zyigeg1sbnm6egxpbms9imh0dha6ly93d3cudzmub3jnlze5otkvegxpbmsiihhtbdpzcgfjzt0ichjlc2vydmuiig92zxjmbg93psjoawrkzw4ipjxnihryyw5zzm9ybt0idhjhbnnsyxrlkc0yotqgltuyockipjxwyxroigq9ik0zmduunjc4idu5mi4xndmgmzu0ljmymia1otiumtqzttmzmy43mzkgntg0ljy1osazntiundugntg0ljy1ou0zmzmunzm5idu2nc4wocazntiundugnty0lja4ttmzmy43mzkgntqzljuwmsazntiundugntqzljuwmu0zmjqumzg5idu4nc42ntldmzi0ljm4osa1odyumja5idmymy4xmzegntg3ljq2nsazmjeuntgxidu4ny40njugmziwljazidu4ny40njugmze4ljc3mya1odyumja5idmxoc43nzmgntg0ljy1osazmtgunzczidu4my4xmdkgmziwljazidu4ms44ntmgmzixlju4msa1odeuoduzidmymy4xmzegntgxljg1myazmjqumzg5idu4my4xmdkgmzi0ljm4osa1odqunju5wk0zmtuumdm0idu4nc42ntldmze1ljaznca1odyumja5idmxmy43nzygntg3ljq2nsazmtiumji2idu4ny40njugmzewljy3nsa1odcundy1idmwos40mjigntg2ljiwosazmdkundiyidu4nc42ntkgmza5ljqymia1odmumta5idmxmc42nzugntgxljg1myazmtiumji2idu4ms44ntmgmzezljc3nia1odeuoduzidmxns4wmzqgntgzljewosazmtuumdm0idu4nc42ntlattmync4zodkgnty0lja4qzmync4zodkgnty1ljyzidmymy4xmzegnty2ljg4nyazmjeuntgxidu2ni44odcgmziwljazidu2ni44odcgmze4ljc3mya1njuunjmgmze4ljc3mya1njqumdggmze4ljc3mya1njiuntmxidmymc4wmya1njeumjc0idmyms41odegntyxlji3ncazmjmumtmxidu2ms4ynzqgmzi0ljm4osa1njiuntmxidmync4zodkgnty0lja4wk0zmtuumdm0idu2nc4woemzmtuumdm0idu2ns42myazmtmunzc2idu2ni44odcgmzeyljiynia1njyuodg3idmxmc42nzugnty2ljg4nyazmdkundiyidu2ns42myazmdkundiyidu2nc4wocazmdkundiyidu2mi41mzegmzewljy3nsa1njeumjc0idmxmi4ymjygntyxlji3ncazmtmunzc2idu2ms4ynzqgmze1ljaznca1njiuntmxidmxns4wmzqgnty0lja4wk0zmjqumzg5idu0my41mdfdmzi0ljm4osa1nduumduxidmymy4xmzegntq2ljmwnyazmjeuntgxidu0ni4zmdcgmziwljazidu0ni4zmdcgmze4ljc3mya1nduumduxidmxoc43nzmgntqzljuwmsazmtgunzczidu0ms45ntegmziwljazidu0mc42otugmzixlju4msa1ndaunjk1idmymy4xmzegntqwljy5nsazmjqumzg5idu0ms45ntegmzi0ljm4osa1ndmuntaxwk0zmtuumdm0idu0my41mdfdmze1ljaznca1nduumduxidmxmy43nzygntq2ljmwnyazmtiumji2idu0ni4zmdcgmzewljy3nsa1ndyumza3idmwos40mjigntq1lja1msazmdkundiyidu0my41mdegmza5ljqymia1ndeuotuxidmxmc42nzugntqwljy5nsazmtiumji2idu0mc42otugmzezljc3nia1ndaunjk1idmxns4wmzqgntqxljk1msazmtuumdm0idu0my41mdfattm1mi40nsa1nzeuntyyidm1mi40nsa1nzcumtc2ttm1mi40nsa1ntauotg0idm1mi40nsa1ntyuntk2ttmwny41nsa1nzeuntyyidmwny41nsa1nzcumtc2ttmwny41nsa1ntauotg0idmwny41nsa1ntyuntk2ttmwms45mzkgntkylje0myazmdeuotm5idu3ny4xnzygmzu4lja2msa1nzcumtc2idm1oc4wnjegntkylje0m00zntgumdyxidu3ms41njigmzaxljkzosa1nzeuntyyidmwms45mzkgntu2lju5niazntgumdyxidu1ni41otygmzu4lja2msa1nzeuntyywk0zntgumdyxidu1mc45odqgmzaxljkzosa1ntauotg0idmwms45mzkgntm2ljaxnyazntgumdyxiduzni4wmtcgmzu4lja2msa1ntauotg0wiigc3ryb2tlpsijmdawmdawiibmawxspsjub25lii8+pc9npjwvc3znpg=="/><Relationship Id="rId2" Type="http://schemas.openxmlformats.org/officeDocument/2006/relationships/image" Target="../media/image-3-2.svg+xml;base64,phn2zyb3awr0ad0inziiighlawdodd0inziiihhtbg5zpsjodhrwoi8vd3d3lnczlm9yzy8ymdawl3n2zyigeg1sbnm6egxpbms9imh0dha6ly93d3cudzmub3jnlze5otkvegxpbmsiihhtbdpzcgfjzt0ichjlc2vydmuiig92zxjmbg93psjoawrkzw4ipjxnihryyw5zzm9ybt0idhjhbnnsyxrlkc01mdaglte0nskipjxwyxroigq9ik01mjquodk4idiwos4xndignti0ljg5ocaymdiunda4iduymc4wnzggmjayljqwoem1mtcunda1idiwmi40mdggnte1ljm5ncaxotkunzkyiduxns4zotqgmtk3ljexoew1mtuumzk0ide5mc40ntegntewljgyncaxotaunduxqzuwos41ndcgmtkwljq1msa1mdgunzygmtg5lja1nca1mdkundiyide4ny45nkw1mtuundm3ide3oc4wnjjdnte1ljqxmyaxnzcunjixiduxns4zotggmtc3lje3nca1mtuumzk4ide3ni43mjggnte1ljm5ocaxnjmumze3iduyni41mzqgmtuyljuwnya1ndaumdyxide1my4wmzugntuylje0nyaxntmuntegntyylja1osaxnjmumje2idu2mi43nzqgmtc1lji5mya1njmumjq1ide4my4yoca1ntkunzu1ide5mc40nzugntu0lja4niaxotuumdk4tdu1nc4wodygmja5lje0mk01mziunzu1ide3mc4zntqgntq2ljcymyaxnzaumzu0idu0ni43mjmgmtg0ljmymia1mziunzu1ide4nc4zmjigntmyljc1nsaxnzaumzu0wk01mjqunzc4ide3ms4zntignti4ljc2niaxnzeumzuyttuync43nzggmtc1ljm0msa1mjgunzy2ide3ns4zndfnnti0ljc3ocaxnzkumzm0iduyoc43njygmtc5ljmzne01mjqunzc4ide4my4zmjmgnti4ljc2niaxodmumzizttu1mc43mtcgmtcxljm1mia1ntqunzegmtcxljm1mk01ntaunze3ide3ns4zndegntu0ljcxide3ns4zndfnntuwljcxnyaxnzkumzm0idu1nc43msaxnzkumzm0ttu1mc43mtcgmtgzljmymya1ntqunzegmtgzljmym001nduunzmgmtg4ljmxnsa1nduunzmgmtkyljmwne01ndeunzm2ide4oc4zmtugntqxljczniaxotiumza0ttuzny43ndcgmtg4ljmxnsa1mzcunzq3ide5mi4zmdrnntmzljc1ncaxodgumze1iduzmy43ntqgmtkyljmwne01nduunzmgmtyyljm3msa1nduunzmgmty2ljm2nu01ndeunzm2ide2mi4znzegntqxljczniaxnjyumzy1ttuzny43ndcgmtyyljm3msa1mzcunzq3ide2ni4znjvnntmzljc1ncaxnjiumzcxiduzmy43ntqgmty2ljm2nu01ndgunzigmtg4ljmxnsa1mzaunzu4ide4oc4zmtvnnti4ljc2niaxodgumze1iduyoc43njygmty2ljm2nsa1ntaunze3ide2ni4znjugntuwljcxnyaxodgumze1iibzdhjva2u9iimwmdawmdaiigzpbgw9im5vbmuilz48l2c+pc9zdmc+"/><Relationship Id="rId3" Type="http://schemas.openxmlformats.org/officeDocument/2006/relationships/image" Target="../media/image-3-3.svg+xml;base64,phn2zyb3awr0ad0inziiighlawdodd0inziiihhtbg5zpsjodhrwoi8vd3d3lnczlm9yzy8ymdawl3n2zyigeg1sbnm6egxpbms9imh0dha6ly93d3cudzmub3jnlze5otkvegxpbmsiihhtbdpzcgfjzt0ichjlc2vydmuiig92zxjmbg93psjoawrkzw4ipjxnihryyw5zzm9ybt0idhjhbnnsyxrlkc01mdeglte0nskipjxwyxroigq9ik01mzcgmtuzljaxnia1mzcgmtu4ljyyn001mtcumtu3ide2ms4ymzggntixljeyniaxnjuumja4ttu1mi44nzqgmtk2ljk1nsa1ntyuodqzidiwmc45mjvnntu2ljg0myaxnjeumjm4idu1mi44nzqgmty1ljiwoe01mjeumti2ide5ni45ntugnte3lje1nyaymdauoti1ttu2ns4wnjegmtgxlja4mia1ntkundugmtgxlja4mk01mtquntugmtgxlja4mia1mdguotm5ide4ms4wodjnnti2ljcwosaymdkumtqyidu0ny4zmiaymdkumtqyttu0ny4zmjugmja2ljmznca1ndcumzi1ide5oc44odvdntuzljq1ncaxotuumzizidu1ny41nzggmtg4ljy4idu1ny41nzggmtgxlja3nya1ntcuntc4ide2os43msa1ndgumzy2ide2mc40otkgntm3ide2mc40otkgnti1ljyzncaxnjaundk5iduxni40mjigmty5ljcxiduxni40mjigmtgxlja3nya1mtyundiyide4oc42otqgntiwlju2ide5ns4zndignti2ljcxncaxotguota0tduyni43mtqgmja2ljmzne01mzkumjc1ide5ni4wndggntm0ljy5msaxotyumdq4iduzmy43mtigmtkyljeymkm1mziuotq0ide5ms44otegntmyljiwnsaxoteuntg5iduzms41mtqgmtkxljixnew1mjgumdc3ide5my4ynzqgnti0ljgynyaxotaumdi5iduyni44odygmtg2ljywmkm1mjyuntayide4ns44otygnti2lje5nsaxoduumtq3iduyns45njugmtg0ljm2nuw1mjiumdq4ide4my40mtqgntiylja0ocaxnzgunzu0iduyns45njugmtc3ljgwm0m1mjyumtk1ide3ny4wmjegnti2ljuwmiaxnzyumjcyiduyni44odygmtc1lju2nkw1mjquodi3ide3mi4xmzkgnti4lja3nyaxnjguodk0iduzms41mtqgmtcwljk1nem1mziumja1ide3mc41nzkgntmyljkzosaxnzaumjc3iduzmy43mtigmtcwlja0nkw1mzqunjkxide2ni4xmya1mzkumjc1ide2ni4xmya1ndaumjkzide3mc4wndzdntqxlja2msaxnzaumjcyidu0ms44ide3mc41nzkgntqyljq5msaxnzauotu0tdu0ns45mjggmty4ljg5nca1ndkumtgyide3mi4xmzkgntq3ljeymyaxnzuunty2qzu0ny41mdcgmtc2lji3mia1ndcuode0ide3ny4wmjegntq4lja1ide3ny44mdnmntuxljk2niaxnzgunzu0idu1ms45njygmtgzljqxnca1ndgumdugmtg0ljm2num1ndcuode5ide4ns4xndcgntq3ljuwnyaxoduuodk2idu0ny4xmjmgmtg2ljywmkw1ndkumtgyide5mc4wmjkgntq1ljkyocaxotmumjc0idu0mi40otegmtkxljixnem1ndeuocaxoteuntg5idu0ms4wnjegmtkxljg5msa1ndaumjkzide5mi4xmjjmntm5lji3nsaxotyumdq4wk01mzcgmtc0lja5oem1mzmumtq2ide3nc4wotggntmwljaymsaxnzcumjiyiduzmc4wmjegmtgxlja3nya1mzaumdixide4nc45mzegntmzlje0niaxodgumdu2iduznyaxodgumdu2idu0mc44ntqgmtg4lja1nia1ndmuotg0ide4nc45mzegntqzljk4ncaxodeumdc3idu0my45odqgmtc3ljiymia1ndauodu5ide3nc4wotggntm3ide3nc4wothaiibzdhjva2u9iimwmdawmdaiigzpbgw9im5vbmuilz48l2c+pc9zdmc+"/><Relationship Id="rId4" Type="http://schemas.openxmlformats.org/officeDocument/2006/relationships/image" Target="../media/image-3-4.svg+xml;base64,phn2zyb3awr0ad0inziiighlawdodd0inziiihhtbg5zpsjodhrwoi8vd3d3lnczlm9yzy8ymdawl3n2zyigeg1sbnm6egxpbms9imh0dha6ly93d3cudzmub3jnlze5otkvegxpbmsiihhtbdpzcgfjzt0ichjlc2vydmuiig92zxjmbg93psjoawrkzw4ipjxnihryyw5zzm9ybt0idhjhbnnsyxrlkc05mtuglte0nskipjxwyxroigq9ik05ndeunjg4ide4mum5ndeunjg4ide4my41mtkgotm5ljy0nyaxoduuntygotm3ljeyocaxoduuntygotm0ljywosaxoduuntygotmylju2ocaxodmunte5idkzmi41njggmtgxidkzmi41njggmtc4ljq4msa5mzqunja5ide3ni40nca5mzcumti4ide3ni40nca5mzkunjq3ide3ni40nca5ndeunjg4ide3oc40odegotqxljy4ocaxodfaiibzdhjva2u9iimwmdawmdaiigzpbgw9im5vbmuilz48cgf0acbkpsjnotu1ljggmtk0ljq0qzk1ns44ide5ni45ntkgotuzljc1osaxotkgotuxlji0ide5osa5ndgunzixide5osa5ndyunjggmtk2ljk1osa5ndyunjggmtk0ljq0idk0ni42ocaxoteuotixidk0oc43mjegmtg5ljg4idk1ms4yncaxodkuodggotuzljc1osaxodkuodggotu1ljggmtkxljkymsa5ntuuocaxotqundraiibzdhjva2u9iimwmdawmdaiigzpbgw9im5vbmuilz48cgf0acbkpsjnotc5ljmyide4mum5nzkumzigmtk2ljuwoca5njyunzq4idiwos4woca5nteumjqgmja5lja4idkzns43mzigmja5lja4idkymy4xniaxotyunta4idkymy4xniaxodegotizlje2ide2ns40otigotm1ljczmiaxntiuotigotuxlji0ide1mi45mia5njyunzq4ide1mi45mia5nzkumzigmty1ljq5mia5nzkumzigmtgxwiigc3ryb2tlpsijmdawmdawiibmawxspsjub25lii8+phbhdgggzd0ittk1ms4yncaxotkgotuxlji0idiwos4wocigc3ryb2tlpsijmdawmdawiibmawxspsjub25lii8+phbhdgggzd0ittk1ms4yncaxntiuotigotuxlji0ide4os44ocigc3ryb2tlpsijmdawmdawiibmawxspsjub25lii8+phbhdgggzd0ittk2oc4xmzygmty3lju2qzk2oc4xmzygmtcwlja3osa5njyumdk1ide3mi4xmia5njmuntc2ide3mi4xmia5njeumdu3ide3mi4xmia5ntkumde2ide3mc4wnzkgotu5ljaxniaxnjcuntygotu5ljaxniaxnjuumdqxidk2ms4wntcgmtyzidk2my41nzygmtyzidk2ni4wotugmtyzidk2oc4xmzygmty1lja0msa5njgumtm2ide2ny41nloiihn0cm9rzt0iizawmdawmcigzmlsbd0ibm9uzsivpjxwyxroigq9ik05njgumdg4ide2ny41nia5nzuuoteyide2ny41niigc3ryb2tlpsijmdawmdawiibmawxspsjub25lii8+phbhdgggzd0ittkyni41njggmty3lju2idk1os4wmtygmty3lju2iibzdhjva2u9iimwmdawmdaiigzpbgw9im5vbmuilz48cgf0acbkpsjnotyylja4ocaxnjmumjg4qzk1oc42ocaxntuumzy4idk1my44ocaxntmumde2idk1my44ocaxntmumde2iibzdhjva2u9iimwmdawmdaiigzpbgw9im5vbmuilz48cgf0acbkpsjnotuzljg4idiwoc45mzzdotuzljg4idiwoc45mzygotyylju2ocaymdqumtg0idk2ns4xmtigmtg2lja0idk2ns43odqgmtgxlji0idk2ns4xmtigmtc1ljgxnia5njuumteyide3ns44mtygoty0ljk2ocaxnzquntigoty0ljgyncaxnzmumjcyidk2nc42mzigmtcylja3miigc3ryb2tlpsijmdawmdawiibmawxspsjub25lii8+phbhdgggzd0ittk0ms42ncaxodegotc0ljizmiaxodeiihn0cm9rzt0iizawmdawmcigzmlsbd0ibm9uzsivpjxwyxroigq9ik05mjgumjk2ide4msa5mziunty4ide4msigc3ryb2tlpsijmdawmdawiibmawxspsjub25lii8+phbhdgggzd0ittk1ns44ide5nc40nca5nzuuoteyide5nc40ncigc3ryb2tlpsijmdawmdawiibmawxspsjub25lii8+phbhdgggzd0ittkyni42mtygmtk0ljq0idk0ni42ocaxotqundqiihn0cm9rzt0iizawmdawmcigzmlsbd0ibm9uzsivpjxwyxroigq9ik05mzcumzigmtg1lju2qzkzny4zmiaxoduunzuyidkzny4zmiaxoduuotq0idkzny4znjggmtg2lja4oca5mzkuoteyidiwnc4ymzigotq4ljygmja4ljk4nca5ndguniaymdguotg0iibzdhjva2u9iimwmdawmdaiigzpbgw9im5vbmuilz48cgf0acbkpsjnotq4ljy0ocaxntmumdy0qzk0oc42ndggmtuzlja2nca5mzkumdk2ide1ny43mia5mzcunde2ide3ns45mtigotm3ljqxniaxnzuuoteyidkzny40mtygmtc2ljewnca5mzcumzy4ide3ni40odgiihn0cm9rzt0iizawmdawmcigzmlsbd0ibm9uzsivpjwvzz48l3n2zz4="/><Relationship Id="rId5" Type="http://schemas.openxmlformats.org/officeDocument/2006/relationships/slideLayout" Target="../slideLayouts/slideLayout18.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6.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0.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teams.microsoft.com/l/chat/0/0?users=mizan.binabdulrahman@spglobal.com&amp;message=Hi%20Mizan,%20can%20you%20help%20me%20install%20theme%20colors,%20please?" TargetMode="External"/><Relationship Id="rId2" Type="http://schemas.openxmlformats.org/officeDocument/2006/relationships/hyperlink" Target="https://sphere.spglobal.com/sites/cross-divisional-initiatives/news/436529/branded-smartart-slide-elements" TargetMode="External"/><Relationship Id="rId3" Type="http://schemas.openxmlformats.org/officeDocument/2006/relationships/slideLayout" Target="../slideLayouts/slideLayout10.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mediaportal.spglobal.com/search/images" TargetMode="External"/><Relationship Id="rId2" Type="http://schemas.openxmlformats.org/officeDocument/2006/relationships/hyperlink" Target="https://brandcenter.spglobal.com/content/photography-principles" TargetMode="External"/><Relationship Id="rId3" Type="http://schemas.openxmlformats.org/officeDocument/2006/relationships/hyperlink" Target="https://forms.office.com/Pages/ResponsePage.aspx?id=6jY-jzmAQEuBp33AWZ6GRaLKtkOlT3tHpcP174yxCTxUQzA3TTJYQkxRNUJSVElSWURUT0lLNzlaSyQlQCN0PWcu" TargetMode="External"/><Relationship Id="rId4" Type="http://schemas.openxmlformats.org/officeDocument/2006/relationships/hyperlink" Target="https://www.gettyimages.com/landing/pa-preview/expanded/170478" TargetMode="External"/><Relationship Id="rId5" Type="http://schemas.openxmlformats.org/officeDocument/2006/relationships/hyperlink" Target="https://spark.spglobal.com/assist?spark_id=33792" TargetMode="External"/><Relationship Id="rId6" Type="http://schemas.openxmlformats.org/officeDocument/2006/relationships/hyperlink" Target="https://brandcenter.spglobal.com/content/iconography" TargetMode="External"/><Relationship Id="rId7" Type="http://schemas.openxmlformats.org/officeDocument/2006/relationships/hyperlink" Target="https://forms.office.com/Pages/ResponsePage.aspx?id=6jY-jzmAQEuBp33AWZ6GRaLKtkOlT3tHpcP174yxCTxUNzY4WFRaS1czTTkwOTBPUjI2SU1DMzk4WSQlQCN0PWcu" TargetMode="External"/><Relationship Id="rId8" Type="http://schemas.openxmlformats.org/officeDocument/2006/relationships/hyperlink" Target="https://forms.office.com/Pages/ResponsePage.aspx?id=6jY-jzmAQEuBp33AWZ6GRZl6-kBxW6hEiiDSu0_M_X1UM0FMWVVFMTRWMjgyM0k4VE9aWjZXOU4zSSQlQCN0PWcu" TargetMode="External"/><Relationship Id="rId9" Type="http://schemas.openxmlformats.org/officeDocument/2006/relationships/hyperlink" Target="https://spgl.sharepoint.com/sites/group_nam_corp_edp_m/SitePages/Energy-Editorial-Submissions.aspx" TargetMode="External"/><Relationship Id="rId10" Type="http://schemas.openxmlformats.org/officeDocument/2006/relationships/hyperlink" Target="https://spgl.sharepoint.com/sites/ResearchAnalysis/Lists/SC/NewForm.aspx" TargetMode="External"/><Relationship Id="rId11" Type="http://schemas.openxmlformats.org/officeDocument/2006/relationships/hyperlink" Target="mailto:jane.crispin@spglobal.com" TargetMode="External"/><Relationship Id="rId12" Type="http://schemas.openxmlformats.org/officeDocument/2006/relationships/hyperlink" Target="mailto:GIA_editorial@spglobal.com" TargetMode="External"/><Relationship Id="rId13" Type="http://schemas.openxmlformats.org/officeDocument/2006/relationships/hyperlink" Target="mailto:h-ihsm-DL-MaritimeEditing&amp;Design@spglobal.com" TargetMode="External"/><Relationship Id="rId14" Type="http://schemas.openxmlformats.org/officeDocument/2006/relationships/hyperlink" Target="mailto:finews.submissions@spglobal.com" TargetMode="External"/><Relationship Id="rId15" Type="http://schemas.openxmlformats.org/officeDocument/2006/relationships/hyperlink" Target="https://spgi.service-now.com/esc?id=sc_cat_item&amp;sys_id=c49f549bc3f0d214fffbdecf050131bb" TargetMode="External"/><Relationship Id="rId16" Type="http://schemas.openxmlformats.org/officeDocument/2006/relationships/hyperlink" Target="https://spgl.sharepoint.com/sites/group_nam_corp_edp_m/DLF/_Essential_tools/Add-ins" TargetMode="External"/><Relationship Id="rId17" Type="http://schemas.openxmlformats.org/officeDocument/2006/relationships/hyperlink" Target="mailto:publish.pira@spglobal.com" TargetMode="External"/><Relationship Id="rId18" Type="http://schemas.openxmlformats.org/officeDocument/2006/relationships/hyperlink" Target="mailto:EditorialTeam451@spglobal.com" TargetMode="External"/><Relationship Id="rId19" Type="http://schemas.openxmlformats.org/officeDocument/2006/relationships/hyperlink" Target="mailto:MIResearchEditorial@spglobal.com" TargetMode="External"/><Relationship Id="rId20" Type="http://schemas.openxmlformats.org/officeDocument/2006/relationships/hyperlink" Target="mailto:mark.pengelly@spglobal.com" TargetMode="External"/><Relationship Id="rId21" Type="http://schemas.openxmlformats.org/officeDocument/2006/relationships/slideLayout" Target="../slideLayouts/slideLayout10.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title" hasCustomPrompt="1"/>
          </p:nvPr>
        </p:nvSpPr>
        <p:spPr>
          <a:xfrm>
            <a:off x="566928" y="1271016"/>
            <a:ext cx="7187184" cy="1865376"/>
          </a:xfrm>
          <a:prstGeom prst="rect">
            <a:avLst/>
          </a:prstGeom>
          <a:noFill/>
          <a:ln/>
        </p:spPr>
        <p:txBody>
          <a:bodyPr wrap="square" rtlCol="0" anchor="b"/>
          <a:lstStyle/>
          <a:p>
            <a:pPr algn="l" indent="0" marL="0">
              <a:buNone/>
            </a:pPr>
            <a:r>
              <a:rPr lang="en-US" sz="4400" dirty="0">
                <a:solidFill>
                  <a:srgbClr val="000000"/>
                </a:solidFill>
                <a:latin typeface="Arial" pitchFamily="34" charset="0"/>
                <a:ea typeface="Arial" pitchFamily="34" charset="-122"/>
                <a:cs typeface="Arial" pitchFamily="34" charset="-120"/>
              </a:rPr>
              <a:t>Saudi Arabia's Data Center Revolution</a:t>
            </a:r>
            <a:endParaRPr lang="en-US" sz="4400" dirty="0"/>
          </a:p>
        </p:txBody>
      </p:sp>
      <p:sp>
        <p:nvSpPr>
          <p:cNvPr id="4" name="Text 0"/>
          <p:cNvSpPr/>
          <p:nvPr>
            <p:ph idx="102" type="body" hasCustomPrompt="1"/>
          </p:nvPr>
        </p:nvSpPr>
        <p:spPr>
          <a:xfrm>
            <a:off x="566928" y="3236976"/>
            <a:ext cx="7187184" cy="576072"/>
          </a:xfrm>
          <a:prstGeom prst="rect">
            <a:avLst/>
          </a:prstGeom>
          <a:noFill/>
          <a:ln/>
        </p:spPr>
        <p:txBody>
          <a:bodyPr wrap="square" rtlCol="0" anchor="t"/>
          <a:lstStyle/>
          <a:p>
            <a:pPr algn="l" indent="0" marL="0">
              <a:buNone/>
            </a:pPr>
            <a:r>
              <a:rPr lang="en-US" sz="1800" dirty="0">
                <a:solidFill>
                  <a:srgbClr val="000000"/>
                </a:solidFill>
                <a:latin typeface="Arial" pitchFamily="34" charset="0"/>
                <a:ea typeface="Arial" pitchFamily="34" charset="-122"/>
                <a:cs typeface="Arial" pitchFamily="34" charset="-120"/>
              </a:rPr>
              <a:t>Driving Economic Transformation Through Digital Infrastructure</a:t>
            </a:r>
            <a:endParaRPr lang="en-US" sz="1800" dirty="0"/>
          </a:p>
        </p:txBody>
      </p:sp>
      <p:sp>
        <p:nvSpPr>
          <p:cNvPr id="5" name="Text 0"/>
          <p:cNvSpPr/>
          <p:nvPr>
            <p:ph idx="103" type="body" hasCustomPrompt="1"/>
          </p:nvPr>
        </p:nvSpPr>
        <p:spPr>
          <a:xfrm>
            <a:off x="566928" y="3931920"/>
            <a:ext cx="7187184" cy="1865376"/>
          </a:xfrm>
          <a:prstGeom prst="rect">
            <a:avLst/>
          </a:prstGeom>
          <a:noFill/>
          <a:ln/>
        </p:spPr>
        <p:txBody>
          <a:bodyPr wrap="square" rtlCol="0" anchor="b"/>
          <a:lstStyle/>
          <a:p>
            <a:pPr algn="l" indent="0" marL="0">
              <a:buNone/>
            </a:pPr>
            <a:r>
              <a:rPr lang="en-US" sz="1600" dirty="0">
                <a:solidFill>
                  <a:srgbClr val="000000"/>
                </a:solidFill>
                <a:latin typeface="Arial" pitchFamily="34" charset="0"/>
                <a:ea typeface="Arial" pitchFamily="34" charset="-122"/>
                <a:cs typeface="Arial" pitchFamily="34" charset="-120"/>
              </a:rPr>
              <a:t>Mizan Bin abdul rahman / SGA EDITORIAL 1 / LEAD EDITOR</a:t>
            </a:r>
            <a:endParaRPr lang="en-US" sz="1600" dirty="0"/>
          </a:p>
        </p:txBody>
      </p:sp>
      <p:sp>
        <p:nvSpPr>
          <p:cNvPr id="6" name="Text 0"/>
          <p:cNvSpPr/>
          <p:nvPr>
            <p:ph idx="105" type="body" hasCustomPrompt="1"/>
          </p:nvPr>
        </p:nvSpPr>
        <p:spPr>
          <a:xfrm>
            <a:off x="566928" y="1271016"/>
            <a:ext cx="5532120" cy="237744"/>
          </a:xfrm>
          <a:prstGeom prst="rect">
            <a:avLst/>
          </a:prstGeom>
          <a:noFill/>
          <a:ln/>
        </p:spPr>
        <p:txBody>
          <a:bodyPr wrap="square" rtlCol="0" anchor="ctr"/>
          <a:lstStyle/>
          <a:p>
            <a:pPr algn="l" indent="0" marL="0">
              <a:buNone/>
            </a:pPr>
            <a:r>
              <a:rPr lang="en-US" sz="1200" dirty="0">
                <a:solidFill>
                  <a:srgbClr val="000000"/>
                </a:solidFill>
                <a:latin typeface="Arial" pitchFamily="34" charset="0"/>
                <a:ea typeface="Arial" pitchFamily="34" charset="-122"/>
                <a:cs typeface="Arial" pitchFamily="34" charset="-120"/>
              </a:rPr>
              <a:t>Look Forward: Data Center Frontiers</a:t>
            </a:r>
            <a:endParaRPr lang="en-US" sz="1200" dirty="0"/>
          </a:p>
        </p:txBody>
      </p:sp>
      <p:sp>
        <p:nvSpPr>
          <p:cNvPr id="7" name="Text 0"/>
          <p:cNvSpPr/>
          <p:nvPr>
            <p:ph idx="104" hasCustomPrompt="1"/>
          </p:nvPr>
        </p:nvSpPr>
        <p:spPr>
          <a:xfrm>
            <a:off x="566928" y="5998464"/>
            <a:ext cx="3035808" cy="219456"/>
          </a:xfrm>
          <a:prstGeom prst="rect">
            <a:avLst/>
          </a:prstGeom>
          <a:noFill/>
          <a:ln/>
        </p:spPr>
        <p:txBody>
          <a:bodyPr wrap="square" rtlCol="0" anchor="ctr"/>
          <a:lstStyle/>
          <a:p>
            <a:pPr algn="l" indent="0" marL="0">
              <a:buNone/>
            </a:pPr>
            <a:r>
              <a:rPr lang="en-US" sz="1200" dirty="0">
                <a:solidFill>
                  <a:srgbClr val="000000"/>
                </a:solidFill>
                <a:latin typeface="Arial" pitchFamily="34" charset="0"/>
                <a:ea typeface="Arial" pitchFamily="34" charset="-122"/>
                <a:cs typeface="Arial" pitchFamily="34" charset="-120"/>
              </a:rPr>
              <a:t>January 14, 2026</a:t>
            </a:r>
            <a:endParaRPr lang="en-US" sz="1200" dirty="0"/>
          </a:p>
        </p:txBody>
      </p:sp>
      <p:pic>
        <p:nvPicPr>
          <p:cNvPr id="8" name="Image 0" descr="https://snp-mediaportal.qbank.se/assets/deployedFiles/6b33f78553cf05d2e8f752677f7e08b8.jpg">    </p:cNvPr>
          <p:cNvPicPr>
            <a:picLocks noChangeAspect="1"/>
          </p:cNvPicPr>
          <p:nvPr/>
        </p:nvPicPr>
        <p:blipFill>
          <a:blip r:embed="rId1"/>
          <a:srcRect l="27232" r="27232" t="0" b="0"/>
          <a:stretch/>
        </p:blipFill>
        <p:spPr>
          <a:xfrm>
            <a:off x="7909560" y="1289304"/>
            <a:ext cx="4288536" cy="4928616"/>
          </a:xfrm>
          <a:prstGeom prst="rect">
            <a:avLst/>
          </a:prstGeom>
        </p:spPr>
      </p:pic>
      <p:sp>
        <p:nvSpPr>
          <p:cNvPr id="9" name="Text 0"/>
          <p:cNvSpPr/>
          <p:nvPr>
            <p:ph idx="106" type="body" hasCustomPrompt="1"/>
          </p:nvPr>
        </p:nvSpPr>
        <p:spPr>
          <a:xfrm>
            <a:off x="7159752" y="356616"/>
            <a:ext cx="4471416" cy="237744"/>
          </a:xfrm>
          <a:prstGeom prst="rect">
            <a:avLst/>
          </a:prstGeom>
          <a:noFill/>
          <a:ln/>
        </p:spPr>
        <p:txBody>
          <a:bodyPr wrap="square" rtlCol="0" anchor="ctr"/>
          <a:lstStyle/>
          <a:p>
            <a:pPr algn="r" indent="0" marL="0">
              <a:buNone/>
            </a:pPr>
            <a:endParaRPr lang="en-US" sz="1200" dirty="0"/>
          </a:p>
        </p:txBody>
      </p:sp>
      <p:sp>
        <p:nvSpPr>
          <p:cNvPr id="10" name="Text 0"/>
          <p:cNvSpPr/>
          <p:nvPr>
            <p:ph idx="107" hasCustomPrompt="1"/>
          </p:nvPr>
        </p:nvSpPr>
        <p:spPr>
          <a:xfrm>
            <a:off x="7909560" y="1289304"/>
            <a:ext cx="4288536" cy="4928616"/>
          </a:xfrm>
          <a:prstGeom prst="rect">
            <a:avLst/>
          </a:prstGeom>
          <a:noFill/>
          <a:ln/>
        </p:spPr>
        <p:txBody>
          <a:bodyPr wrap="square" rtlCol="0"/>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hasCustomPrompt="1"/>
          </p:nvPr>
        </p:nvSpPr>
        <p:spPr>
          <a:xfrm>
            <a:off x="11320272" y="6565392"/>
            <a:ext cx="310896"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2</a:t>
            </a:r>
            <a:endParaRPr lang="en-US" sz="700" dirty="0"/>
          </a:p>
        </p:txBody>
      </p:sp>
      <p:sp>
        <p:nvSpPr>
          <p:cNvPr id="3" name="Text 1"/>
          <p:cNvSpPr/>
          <p:nvPr>
            <p:ph idx="103" type="title" hasCustomPrompt="1"/>
          </p:nvPr>
        </p:nvSpPr>
        <p:spPr>
          <a:xfrm>
            <a:off x="566928" y="347472"/>
            <a:ext cx="11064240" cy="457200"/>
          </a:xfrm>
          <a:prstGeom prst="rect">
            <a:avLst/>
          </a:prstGeom>
          <a:noFill/>
          <a:ln/>
        </p:spPr>
        <p:txBody>
          <a:bodyPr wrap="square" rtlCol="0" anchor="t"/>
          <a:lstStyle/>
          <a:p>
            <a:pPr algn="l" indent="0" marL="0">
              <a:buNone/>
            </a:pPr>
            <a:r>
              <a:rPr lang="en-US" sz="2400" dirty="0">
                <a:solidFill>
                  <a:srgbClr val="000000"/>
                </a:solidFill>
                <a:latin typeface="Arial" pitchFamily="34" charset="0"/>
                <a:ea typeface="Arial" pitchFamily="34" charset="-122"/>
                <a:cs typeface="Arial" pitchFamily="34" charset="-120"/>
              </a:rPr>
              <a:t>Market Transformation at Scale</a:t>
            </a:r>
            <a:endParaRPr lang="en-US" sz="2400" dirty="0"/>
          </a:p>
        </p:txBody>
      </p:sp>
      <p:sp>
        <p:nvSpPr>
          <p:cNvPr id="4" name="Text 1"/>
          <p:cNvSpPr/>
          <p:nvPr>
            <p:ph idx="104" type="body" hasCustomPrompt="1"/>
          </p:nvPr>
        </p:nvSpPr>
        <p:spPr>
          <a:xfrm>
            <a:off x="566928" y="896112"/>
            <a:ext cx="1106424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Explosive growth positioning Saudi Arabia as regional digital powerhouse</a:t>
            </a:r>
            <a:endParaRPr lang="en-US" sz="1800" dirty="0"/>
          </a:p>
        </p:txBody>
      </p:sp>
      <p:sp>
        <p:nvSpPr>
          <p:cNvPr id="5" name="Text 1"/>
          <p:cNvSpPr/>
          <p:nvPr>
            <p:ph idx="105" type="body" hasCustomPrompt="1"/>
          </p:nvPr>
        </p:nvSpPr>
        <p:spPr>
          <a:xfrm>
            <a:off x="566928" y="1261872"/>
            <a:ext cx="11064240" cy="832104"/>
          </a:xfrm>
          <a:prstGeom prst="rect">
            <a:avLst/>
          </a:prstGeom>
          <a:noFill/>
          <a:ln/>
        </p:spPr>
        <p:txBody>
          <a:bodyPr wrap="square" rtlCol="0" anchor="t"/>
          <a:lstStyle/>
          <a:p>
            <a:pPr algn="l" indent="0" marL="0">
              <a:buNone/>
            </a:pPr>
            <a:r>
              <a:rPr lang="en-US" sz="1200" dirty="0">
                <a:solidFill>
                  <a:srgbClr val="000000"/>
                </a:solidFill>
                <a:latin typeface="Arial" pitchFamily="34" charset="0"/>
                <a:ea typeface="Arial" pitchFamily="34" charset="-122"/>
                <a:cs typeface="Arial" pitchFamily="34" charset="-120"/>
              </a:rPr>
              <a:t>Saudi Arabia's data center market demonstrates remarkable expansion with 29% CAGR growth projection from 2024-2030, driven by Vision 2030's strategic digital transformation initiatives.</a:t>
            </a:r>
            <a:endParaRPr lang="en-US" sz="1200" dirty="0"/>
          </a:p>
        </p:txBody>
      </p:sp>
      <p:sp>
        <p:nvSpPr>
          <p:cNvPr id="6" name="Text 1"/>
          <p:cNvSpPr/>
          <p:nvPr>
            <p:ph idx="107" type="body" hasCustomPrompt="1"/>
          </p:nvPr>
        </p:nvSpPr>
        <p:spPr>
          <a:xfrm>
            <a:off x="6611112" y="2286000"/>
            <a:ext cx="5029200" cy="3310128"/>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Current IT power capacity stands at 222 MW with ambitious plans for 760 MW additional capacity by 2030, supporting economic diversification beyond oil dependence and establishing the kingdom as a regional technology hub.</a:t>
            </a:r>
            <a:endParaRPr lang="en-US" sz="1200" dirty="0"/>
          </a:p>
        </p:txBody>
      </p:sp>
      <p:sp>
        <p:nvSpPr>
          <p:cNvPr id="7" name="Text 1"/>
          <p:cNvSpPr/>
          <p:nvPr>
            <p:ph idx="106" type="chart" hasCustomPrompt="1"/>
          </p:nvPr>
        </p:nvSpPr>
        <p:spPr>
          <a:xfrm>
            <a:off x="566928" y="2286000"/>
            <a:ext cx="5532120" cy="3310128"/>
          </a:xfrm>
          <a:prstGeom prst="rect">
            <a:avLst/>
          </a:prstGeom>
          <a:noFill/>
          <a:ln/>
        </p:spPr>
        <p:txBody>
          <a:bodyPr wrap="square" lIns="0" tIns="0" rIns="0" bIns="0"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[{name: 'IT Power Capacity (MW)', labels: ['2024 Current', '2030 Projected'], values: [222, 982]}]</a:t>
            </a:r>
            <a:endParaRPr lang="en-US" sz="950" dirty="0"/>
          </a:p>
        </p:txBody>
      </p:sp>
      <p:sp>
        <p:nvSpPr>
          <p:cNvPr id="8" name="Text 1"/>
          <p:cNvSpPr/>
          <p:nvPr>
            <p:ph idx="108" type="body" hasCustomPrompt="1"/>
          </p:nvPr>
        </p:nvSpPr>
        <p:spPr>
          <a:xfrm>
            <a:off x="6099048" y="0"/>
            <a:ext cx="5532120" cy="320040"/>
          </a:xfrm>
          <a:prstGeom prst="rect">
            <a:avLst/>
          </a:prstGeom>
          <a:noFill/>
          <a:ln/>
        </p:spPr>
        <p:txBody>
          <a:bodyPr wrap="square" rtlCol="0" anchor="ctr"/>
          <a:lstStyle/>
          <a:p>
            <a:pPr algn="r" indent="0" marL="0">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9" name="Text 1"/>
          <p:cNvSpPr/>
          <p:nvPr>
            <p:ph idx="109" type="body" hasCustomPrompt="1"/>
          </p:nvPr>
        </p:nvSpPr>
        <p:spPr>
          <a:xfrm>
            <a:off x="566928" y="5687568"/>
            <a:ext cx="11064240" cy="530352"/>
          </a:xfrm>
          <a:prstGeom prst="rect">
            <a:avLst/>
          </a:prstGeom>
          <a:noFill/>
          <a:ln/>
        </p:spPr>
        <p:txBody>
          <a:bodyPr wrap="square" rtlCol="0" anchor="b"/>
          <a:lstStyle/>
          <a:p>
            <a:pPr algn="l" indent="0" marL="0">
              <a:buNone/>
            </a:pPr>
            <a:r>
              <a:rPr lang="en-US" sz="700" dirty="0">
                <a:solidFill>
                  <a:srgbClr val="000000"/>
                </a:solidFill>
                <a:latin typeface="Arial" pitchFamily="34" charset="0"/>
                <a:ea typeface="Arial" pitchFamily="34" charset="-122"/>
                <a:cs typeface="Arial" pitchFamily="34" charset="-120"/>
              </a:rPr>
              <a:t>Source: S&amp;P Global Market Intelligence | Web sources: https://www.spglobal.com/en/research-insights/special-reports/look-forward/data-center-frontiers/saudi-arabia-data-center-market</a:t>
            </a:r>
            <a:endParaRPr lang="en-US" sz="700" dirty="0"/>
          </a:p>
        </p:txBody>
      </p:sp>
      <p:graphicFrame>
        <p:nvGraphicFramePr>
          <p:cNvPr id="10" name="Chart 0" descr=""/>
          <p:cNvGraphicFramePr/>
          <p:nvPr/>
        </p:nvGraphicFramePr>
        <p:xfrm>
          <a:off x="566928" y="2286000"/>
          <a:ext cx="5532120" cy="331012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hasCustomPrompt="1"/>
          </p:nvPr>
        </p:nvSpPr>
        <p:spPr>
          <a:xfrm>
            <a:off x="11320272" y="6565392"/>
            <a:ext cx="310896"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3</a:t>
            </a:r>
            <a:endParaRPr lang="en-US" sz="700" dirty="0"/>
          </a:p>
        </p:txBody>
      </p:sp>
      <p:sp>
        <p:nvSpPr>
          <p:cNvPr id="3" name="Text 1"/>
          <p:cNvSpPr/>
          <p:nvPr>
            <p:ph idx="103" type="title" hasCustomPrompt="1"/>
          </p:nvPr>
        </p:nvSpPr>
        <p:spPr>
          <a:xfrm>
            <a:off x="566928" y="347472"/>
            <a:ext cx="11064240" cy="457200"/>
          </a:xfrm>
          <a:prstGeom prst="rect">
            <a:avLst/>
          </a:prstGeom>
          <a:noFill/>
          <a:ln/>
        </p:spPr>
        <p:txBody>
          <a:bodyPr wrap="square" rtlCol="0" anchor="t"/>
          <a:lstStyle/>
          <a:p>
            <a:pPr algn="l" indent="0" marL="0">
              <a:buNone/>
            </a:pPr>
            <a:r>
              <a:rPr lang="en-US" sz="2400" dirty="0">
                <a:solidFill>
                  <a:srgbClr val="000000"/>
                </a:solidFill>
                <a:latin typeface="Arial" pitchFamily="34" charset="0"/>
                <a:ea typeface="Arial" pitchFamily="34" charset="-122"/>
                <a:cs typeface="Arial" pitchFamily="34" charset="-120"/>
              </a:rPr>
              <a:t>Market Landscape</a:t>
            </a:r>
            <a:endParaRPr lang="en-US" sz="2400" dirty="0"/>
          </a:p>
        </p:txBody>
      </p:sp>
      <p:sp>
        <p:nvSpPr>
          <p:cNvPr id="4" name="Text 1"/>
          <p:cNvSpPr/>
          <p:nvPr>
            <p:ph idx="104" type="body" hasCustomPrompt="1"/>
          </p:nvPr>
        </p:nvSpPr>
        <p:spPr>
          <a:xfrm>
            <a:off x="566928" y="896112"/>
            <a:ext cx="1106424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Key Players &amp; Competitive Dynamics</a:t>
            </a:r>
            <a:endParaRPr lang="en-US" sz="1800" dirty="0"/>
          </a:p>
        </p:txBody>
      </p:sp>
      <p:sp>
        <p:nvSpPr>
          <p:cNvPr id="5" name="Text 1"/>
          <p:cNvSpPr/>
          <p:nvPr>
            <p:ph idx="105" type="body" hasCustomPrompt="1"/>
          </p:nvPr>
        </p:nvSpPr>
        <p:spPr>
          <a:xfrm>
            <a:off x="566928" y="1261872"/>
            <a:ext cx="5029200" cy="434340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The Saudi data center market features established operators alongside ambitious new entrants, with state-backed Humain emerging as a transformative force. Geographic concentration in Riyadh, Dammam, and Jeddah creates strategic hubs for digital infrastructure development, while competitive dynamics shift toward hyperscale capabilities and AI workload support.</a:t>
            </a:r>
            <a:endParaRPr lang="en-US" sz="1200" dirty="0"/>
          </a:p>
        </p:txBody>
      </p:sp>
      <p:pic>
        <p:nvPicPr>
          <p:cNvPr id="6" name="Image 0" descr="data:image/svg+xml;base64,PHN2ZyB3aWR0aD0iNzIiIGhlaWdodD0iNzIiIHhtbG5zPSJodHRwOi8vd3d3LnczLm9yZy8yMDAwL3N2ZyIgeG1sbnM6eGxpbms9Imh0dHA6Ly93d3cudzMub3JnLzE5OTkveGxpbmsiIHhtbDpzcGFjZT0icHJlc2VydmUiIG92ZXJmbG93PSJoaWRkZW4iPjxnIHRyYW5zZm9ybT0idHJhbnNsYXRlKC0yOTQgLTUyOCkiPjxwYXRoIGQ9Ik0zMDUuNjc4IDU5Mi4xNDMgMzU0LjMyMiA1OTIuMTQzTTMzMy43MzkgNTg0LjY1OSAzNTIuNDUgNTg0LjY1OU0zMzMuNzM5IDU2NC4wOCAzNTIuNDUgNTY0LjA4TTMzMy43MzkgNTQzLjUwMSAzNTIuNDUgNTQzLjUwMU0zMjQuMzg5IDU4NC42NTlDMzI0LjM4OSA1ODYuMjA5IDMyMy4xMzEgNTg3LjQ2NSAzMjEuNTgxIDU4Ny40NjUgMzIwLjAzIDU4Ny40NjUgMzE4Ljc3MyA1ODYuMjA5IDMxOC43NzMgNTg0LjY1OSAzMTguNzczIDU4My4xMDkgMzIwLjAzIDU4MS44NTMgMzIxLjU4MSA1ODEuODUzIDMyMy4xMzEgNTgxLjg1MyAzMjQuMzg5IDU4My4xMDkgMzI0LjM4OSA1ODQuNjU5Wk0zMTUuMDM0IDU4NC42NTlDMzE1LjAzNCA1ODYuMjA5IDMxMy43NzYgNTg3LjQ2NSAzMTIuMjI2IDU4Ny40NjUgMzEwLjY3NSA1ODcuNDY1IDMwOS40MjIgNTg2LjIwOSAzMDkuNDIyIDU4NC42NTkgMzA5LjQyMiA1ODMuMTA5IDMxMC42NzUgNTgxLjg1MyAzMTIuMjI2IDU4MS44NTMgMzEzLjc3NiA1ODEuODUzIDMxNS4wMzQgNTgzLjEwOSAzMTUuMDM0IDU4NC42NTlaTTMyNC4zODkgNTY0LjA4QzMyNC4zODkgNTY1LjYzIDMyMy4xMzEgNTY2Ljg4NyAzMjEuNTgxIDU2Ni44ODcgMzIwLjAzIDU2Ni44ODcgMzE4Ljc3MyA1NjUuNjMgMzE4Ljc3MyA1NjQuMDggMzE4Ljc3MyA1NjIuNTMxIDMyMC4wMyA1NjEuMjc0IDMyMS41ODEgNTYxLjI3NCAzMjMuMTMxIDU2MS4yNzQgMzI0LjM4OSA1NjIuNTMxIDMyNC4zODkgNTY0LjA4Wk0zMTUuMDM0IDU2NC4wOEMzMTUuMDM0IDU2NS42MyAzMTMuNzc2IDU2Ni44ODcgMzEyLjIyNiA1NjYuODg3IDMxMC42NzUgNTY2Ljg4NyAzMDkuNDIyIDU2NS42MyAzMDkuNDIyIDU2NC4wOCAzMDkuNDIyIDU2Mi41MzEgMzEwLjY3NSA1NjEuMjc0IDMxMi4yMjYgNTYxLjI3NCAzMTMuNzc2IDU2MS4yNzQgMzE1LjAzNCA1NjIuNTMxIDMxNS4wMzQgNTY0LjA4Wk0zMjQuMzg5IDU0My41MDFDMzI0LjM4OSA1NDUuMDUxIDMyMy4xMzEgNTQ2LjMwNyAzMjEuNTgxIDU0Ni4zMDcgMzIwLjAzIDU0Ni4zMDcgMzE4Ljc3MyA1NDUuMDUxIDMxOC43NzMgNTQzLjUwMSAzMTguNzczIDU0MS45NTEgMzIwLjAzIDU0MC42OTUgMzIxLjU4MSA1NDAuNjk1IDMyMy4xMzEgNTQwLjY5NSAzMjQuMzg5IDU0MS45NTEgMzI0LjM4OSA1NDMuNTAxWk0zMTUuMDM0IDU0My41MDFDMzE1LjAzNCA1NDUuMDUxIDMxMy43NzYgNTQ2LjMwNyAzMTIuMjI2IDU0Ni4zMDcgMzEwLjY3NSA1NDYuMzA3IDMwOS40MjIgNTQ1LjA1MSAzMDkuNDIyIDU0My41MDEgMzA5LjQyMiA1NDEuOTUxIDMxMC42NzUgNTQwLjY5NSAzMTIuMjI2IDU0MC42OTUgMzEzLjc3NiA1NDAuNjk1IDMxNS4wMzQgNTQxLjk1MSAzMTUuMDM0IDU0My41MDFaTTM1Mi40NSA1NzEuNTYyIDM1Mi40NSA1NzcuMTc2TTM1Mi40NSA1NTAuOTg0IDM1Mi40NSA1NTYuNTk2TTMwNy41NSA1NzEuNTYyIDMwNy41NSA1NzcuMTc2TTMwNy41NSA1NTAuOTg0IDMwNy41NSA1NTYuNTk2TTMwMS45MzkgNTkyLjE0MyAzMDEuOTM5IDU3Ny4xNzYgMzU4LjA2MSA1NzcuMTc2IDM1OC4wNjEgNTkyLjE0M00zNTguMDYxIDU3MS41NjIgMzAxLjkzOSA1NzEuNTYyIDMwMS45MzkgNTU2LjU5NiAzNTguMDYxIDU1Ni41OTYgMzU4LjA2MSA1NzEuNTYyWk0zNTguMDYxIDU1MC45ODQgMzAxLjkzOSA1NTAuOTg0IDMwMS45MzkgNTM2LjAxNyAzNTguMDYxIDUzNi4wMTcgMzU4LjA2MSA1NTAuOTg0WiIgc3Ryb2tlPSIjMDAwMDAwIiBmaWxsPSJub25lIi8+PC9nPjwvc3ZnPg==">    </p:cNvPr>
          <p:cNvPicPr>
            <a:picLocks noChangeAspect="1"/>
          </p:cNvPicPr>
          <p:nvPr/>
        </p:nvPicPr>
        <p:blipFill>
          <a:blip r:embed="rId1"/>
          <a:stretch>
            <a:fillRect/>
          </a:stretch>
        </p:blipFill>
        <p:spPr>
          <a:xfrm>
            <a:off x="6620256" y="1261872"/>
            <a:ext cx="731520" cy="731520"/>
          </a:xfrm>
          <a:prstGeom prst="rect">
            <a:avLst/>
          </a:prstGeom>
        </p:spPr>
      </p:pic>
      <p:sp>
        <p:nvSpPr>
          <p:cNvPr id="7" name="Text 1"/>
          <p:cNvSpPr/>
          <p:nvPr>
            <p:ph idx="107" type="body" hasCustomPrompt="1"/>
          </p:nvPr>
        </p:nvSpPr>
        <p:spPr>
          <a:xfrm>
            <a:off x="7488936" y="1261872"/>
            <a:ext cx="4133088" cy="265176"/>
          </a:xfrm>
          <a:prstGeom prst="rect">
            <a:avLst/>
          </a:prstGeom>
          <a:noFill/>
          <a:ln/>
        </p:spPr>
        <p:txBody>
          <a:bodyPr wrap="square" rtlCol="0" anchor="t"/>
          <a:lstStyle/>
          <a:p>
            <a:pPr algn="l" indent="0" marL="0">
              <a:buNone/>
            </a:pPr>
            <a:r>
              <a:rPr lang="en-US" sz="1600" dirty="0">
                <a:solidFill>
                  <a:srgbClr val="000000"/>
                </a:solidFill>
                <a:latin typeface="Arial" pitchFamily="34" charset="0"/>
                <a:ea typeface="Arial" pitchFamily="34" charset="-122"/>
                <a:cs typeface="Arial" pitchFamily="34" charset="-120"/>
              </a:rPr>
              <a:t>Established</a:t>
            </a:r>
            <a:endParaRPr lang="en-US" sz="1600" dirty="0"/>
          </a:p>
        </p:txBody>
      </p:sp>
      <p:sp>
        <p:nvSpPr>
          <p:cNvPr id="8" name="Text 1"/>
          <p:cNvSpPr/>
          <p:nvPr>
            <p:ph idx="108" type="body" hasCustomPrompt="1"/>
          </p:nvPr>
        </p:nvSpPr>
        <p:spPr>
          <a:xfrm>
            <a:off x="7488936" y="1600200"/>
            <a:ext cx="4133088" cy="64008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Center3, Damac Data Centers, Quantum Switch Tamasuk</a:t>
            </a:r>
            <a:endParaRPr lang="en-US" sz="1200" dirty="0"/>
          </a:p>
        </p:txBody>
      </p:sp>
      <p:pic>
        <p:nvPicPr>
          <p:cNvPr id="9" name="Image 1" descr="data:image/svg+xml;base64,PHN2ZyB3aWR0aD0iNzIiIGhlaWdodD0iNzIiIHhtbG5zPSJodHRwOi8vd3d3LnczLm9yZy8yMDAwL3N2ZyIgeG1sbnM6eGxpbms9Imh0dHA6Ly93d3cudzMub3JnLzE5OTkveGxpbmsiIHhtbDpzcGFjZT0icHJlc2VydmUiIG92ZXJmbG93PSJoaWRkZW4iPjxnIHRyYW5zZm9ybT0idHJhbnNsYXRlKC01MDAgLTE0NSkiPjxwYXRoIGQ9Ik01MjQuODk4IDIwOS4xNDIgNTI0Ljg5OCAyMDIuNDA4IDUyMC4wNzggMjAyLjQwOEM1MTcuNDA1IDIwMi40MDggNTE1LjM5NCAxOTkuNzkyIDUxNS4zOTQgMTk3LjExOEw1MTUuMzk0IDE5MC40NTEgNTEwLjgyNCAxOTAuNDUxQzUwOS41NDcgMTkwLjQ1MSA1MDguNzYgMTg5LjA1NCA1MDkuNDIyIDE4Ny45Nkw1MTUuNDM3IDE3OC4wNjJDNTE1LjQxMyAxNzcuNjIxIDUxNS4zOTggMTc3LjE3NCA1MTUuMzk4IDE3Ni43MjggNTE1LjM5OCAxNjMuMzE3IDUyNi41MzQgMTUyLjUwNyA1NDAuMDYxIDE1My4wMzUgNTUyLjE0NyAxNTMuNTEgNTYyLjA1OSAxNjMuMjE2IDU2Mi43NzQgMTc1LjI5MyA1NjMuMjQ1IDE4My4yOCA1NTkuNzU1IDE5MC40NzUgNTU0LjA4NiAxOTUuMDk4TDU1NC4wODYgMjA5LjE0Mk01MzIuNzU1IDE3MC4zNTQgNTQ2LjcyMyAxNzAuMzU0IDU0Ni43MjMgMTg0LjMyMiA1MzIuNzU1IDE4NC4zMjIgNTMyLjc1NSAxNzAuMzU0Wk01MjQuNzc4IDE3MS4zNTIgNTI4Ljc2NiAxNzEuMzUyTTUyNC43NzggMTc1LjM0MSA1MjguNzY2IDE3NS4zNDFNNTI0Ljc3OCAxNzkuMzM0IDUyOC43NjYgMTc5LjMzNE01MjQuNzc4IDE4My4zMjMgNTI4Ljc2NiAxODMuMzIzTTU1MC43MTcgMTcxLjM1MiA1NTQuNzEgMTcxLjM1Mk01NTAuNzE3IDE3NS4zNDEgNTU0LjcxIDE3NS4zNDFNNTUwLjcxNyAxNzkuMzM0IDU1NC43MSAxNzkuMzM0TTU1MC43MTcgMTgzLjMyMyA1NTQuNzEgMTgzLjMyM001NDUuNzMgMTg4LjMxNSA1NDUuNzMgMTkyLjMwNE01NDEuNzM2IDE4OC4zMTUgNTQxLjczNiAxOTIuMzA0TTUzNy43NDcgMTg4LjMxNSA1MzcuNzQ3IDE5Mi4zMDRNNTMzLjc1NCAxODguMzE1IDUzMy43NTQgMTkyLjMwNE01NDUuNzMgMTYyLjM3MSA1NDUuNzMgMTY2LjM2NU01NDEuNzM2IDE2Mi4zNzEgNTQxLjczNiAxNjYuMzY1TTUzNy43NDcgMTYyLjM3MSA1MzcuNzQ3IDE2Ni4zNjVNNTMzLjc1NCAxNjIuMzcxIDUzMy43NTQgMTY2LjM2NU01NDguNzIgMTg4LjMxNSA1MzAuNzU4IDE4OC4zMTVNNTI4Ljc2NiAxODguMzE1IDUyOC43NjYgMTY2LjM2NSA1NTAuNzE3IDE2Ni4zNjUgNTUwLjcxNyAxODguMzE1IiBzdHJva2U9IiMwMDAwMDAiIGZpbGw9Im5vbmUiLz48L2c+PC9zdmc+">    </p:cNvPr>
          <p:cNvPicPr>
            <a:picLocks noChangeAspect="1"/>
          </p:cNvPicPr>
          <p:nvPr/>
        </p:nvPicPr>
        <p:blipFill>
          <a:blip r:embed="rId2"/>
          <a:stretch>
            <a:fillRect/>
          </a:stretch>
        </p:blipFill>
        <p:spPr>
          <a:xfrm>
            <a:off x="6620256" y="2487168"/>
            <a:ext cx="731520" cy="731520"/>
          </a:xfrm>
          <a:prstGeom prst="rect">
            <a:avLst/>
          </a:prstGeom>
        </p:spPr>
      </p:pic>
      <p:sp>
        <p:nvSpPr>
          <p:cNvPr id="10" name="Text 1"/>
          <p:cNvSpPr/>
          <p:nvPr>
            <p:ph idx="110" type="body" hasCustomPrompt="1"/>
          </p:nvPr>
        </p:nvSpPr>
        <p:spPr>
          <a:xfrm>
            <a:off x="7488936" y="2487168"/>
            <a:ext cx="4133088" cy="265176"/>
          </a:xfrm>
          <a:prstGeom prst="rect">
            <a:avLst/>
          </a:prstGeom>
          <a:noFill/>
          <a:ln/>
        </p:spPr>
        <p:txBody>
          <a:bodyPr wrap="square" rtlCol="0" anchor="t"/>
          <a:lstStyle/>
          <a:p>
            <a:pPr algn="l" indent="0" marL="0">
              <a:buNone/>
            </a:pPr>
            <a:r>
              <a:rPr lang="en-US" sz="1600" dirty="0">
                <a:solidFill>
                  <a:srgbClr val="000000"/>
                </a:solidFill>
                <a:latin typeface="Arial" pitchFamily="34" charset="0"/>
                <a:ea typeface="Arial" pitchFamily="34" charset="-122"/>
                <a:cs typeface="Arial" pitchFamily="34" charset="-120"/>
              </a:rPr>
              <a:t>Emerging</a:t>
            </a:r>
            <a:endParaRPr lang="en-US" sz="1600" dirty="0"/>
          </a:p>
        </p:txBody>
      </p:sp>
      <p:sp>
        <p:nvSpPr>
          <p:cNvPr id="11" name="Text 1"/>
          <p:cNvSpPr/>
          <p:nvPr>
            <p:ph idx="111" type="body" hasCustomPrompt="1"/>
          </p:nvPr>
        </p:nvSpPr>
        <p:spPr>
          <a:xfrm>
            <a:off x="7488936" y="2825496"/>
            <a:ext cx="4133088" cy="64008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DataVolt, ZeroPoint DC driving innovation</a:t>
            </a:r>
            <a:endParaRPr lang="en-US" sz="1200" dirty="0"/>
          </a:p>
        </p:txBody>
      </p:sp>
      <p:pic>
        <p:nvPicPr>
          <p:cNvPr id="12" name="Image 2" descr="data:image/svg+xml;base64,PHN2ZyB3aWR0aD0iNzIiIGhlaWdodD0iNzIiIHhtbG5zPSJodHRwOi8vd3d3LnczLm9yZy8yMDAwL3N2ZyIgeG1sbnM6eGxpbms9Imh0dHA6Ly93d3cudzMub3JnLzE5OTkveGxpbmsiIHhtbDpzcGFjZT0icHJlc2VydmUiIG92ZXJmbG93PSJoaWRkZW4iPjxnIHRyYW5zZm9ybT0idHJhbnNsYXRlKC01MDEgLTE0NSkiPjxwYXRoIGQ9Ik01MzcgMTUzLjAxNiA1MzcgMTU4LjYyN001MTcuMTU3IDE2MS4yMzggNTIxLjEyNiAxNjUuMjA4TTU1Mi44NzQgMTk2Ljk1NSA1NTYuODQzIDIwMC45MjVNNTU2Ljg0MyAxNjEuMjM4IDU1Mi44NzQgMTY1LjIwOE01MjEuMTI2IDE5Ni45NTUgNTE3LjE1NyAyMDAuOTI1TTU2NS4wNjEgMTgxLjA4MiA1NTkuNDUgMTgxLjA4Mk01MTQuNTUgMTgxLjA4MiA1MDguOTM5IDE4MS4wODJNNTI2LjcwOSAyMDkuMTQyIDU0Ny4zMiAyMDkuMTQyTTU0Ny4zMjUgMjA2LjMzNCA1NDcuMzI1IDE5OC44ODVDNTUzLjQ1NCAxOTUuMzIzIDU1Ny41NzggMTg4LjY4IDU1Ny41NzggMTgxLjA3NyA1NTcuNTc4IDE2OS43MSA1NDguMzY2IDE2MC40OTkgNTM3IDE2MC40OTkgNTI1LjYzNCAxNjAuNDk5IDUxNi40MjIgMTY5LjcxIDUxNi40MjIgMTgxLjA3NyA1MTYuNDIyIDE4OC42OTQgNTIwLjU2IDE5NS4zNDIgNTI2LjcxNCAxOTguOTA0TDUyNi43MTQgMjA2LjMzNE01MzkuMjc1IDE5Ni4wNDggNTM0LjY5MSAxOTYuMDQ4IDUzMy43MTIgMTkyLjEyMkM1MzIuOTQ0IDE5MS44OTEgNTMyLjIwNSAxOTEuNTg5IDUzMS41MTQgMTkxLjIxNEw1MjguMDc3IDE5My4yNzQgNTI0LjgyNyAxOTAuMDI5IDUyNi44ODYgMTg2LjYwMkM1MjYuNTAyIDE4NS44OTYgNTI2LjE5NSAxODUuMTQ3IDUyNS45NjUgMTg0LjM2NUw1MjIuMDQ4IDE4My40MTQgNTIyLjA0OCAxNzguNzU0IDUyNS45NjUgMTc3LjgwM0M1MjYuMTk1IDE3Ny4wMjEgNTI2LjUwMiAxNzYuMjcyIDUyNi44ODYgMTc1LjU2Nkw1MjQuODI3IDE3Mi4xMzkgNTI4LjA3NyAxNjguODk0IDUzMS41MTQgMTcwLjk1NEM1MzIuMjA1IDE3MC41NzkgNTMyLjkzOSAxNzAuMjc3IDUzMy43MTIgMTcwLjA0Nkw1MzQuNjkxIDE2Ni4xMyA1MzkuMjc1IDE2Ni4xMyA1NDAuMjkzIDE3MC4wNDZDNTQxLjA2MSAxNzAuMjcyIDU0MS44IDE3MC41NzkgNTQyLjQ5MSAxNzAuOTU0TDU0NS45MjggMTY4Ljg5NCA1NDkuMTgyIDE3Mi4xMzkgNTQ3LjEyMyAxNzUuNTY2QzU0Ny41MDcgMTc2LjI3MiA1NDcuODE0IDE3Ny4wMjEgNTQ4LjA1IDE3Ny44MDNMNTUxLjk2NiAxNzguNzU0IDU1MS45NjYgMTgzLjQxNCA1NDguMDUgMTg0LjM2NUM1NDcuODE5IDE4NS4xNDcgNTQ3LjUwNyAxODUuODk2IDU0Ny4xMjMgMTg2LjYwMkw1NDkuMTgyIDE5MC4wMjkgNTQ1LjkyOCAxOTMuMjc0IDU0Mi40OTEgMTkxLjIxNEM1NDEuOCAxOTEuNTg5IDU0MS4wNjEgMTkxLjg5MSA1NDAuMjkzIDE5Mi4xMjJMNTM5LjI3NSAxOTYuMDQ4Wk01MzcgMTc0LjA5OEM1MzMuMTQ2IDE3NC4wOTggNTMwLjAyMSAxNzcuMjIyIDUzMC4wMjEgMTgxLjA3NyA1MzAuMDIxIDE4NC45MzEgNTMzLjE0NiAxODguMDU2IDUzNyAxODguMDU2IDU0MC44NTQgMTg4LjA1NiA1NDMuOTg0IDE4NC45MzEgNTQzLjk4NCAxODEuMDc3IDU0My45ODQgMTc3LjIyMiA1NDAuODU5IDE3NC4wOTggNTM3IDE3NC4wOThaIiBzdHJva2U9IiMwMDAwMDAiIGZpbGw9Im5vbmUiLz48L2c+PC9zdmc+">    </p:cNvPr>
          <p:cNvPicPr>
            <a:picLocks noChangeAspect="1"/>
          </p:cNvPicPr>
          <p:nvPr/>
        </p:nvPicPr>
        <p:blipFill>
          <a:blip r:embed="rId3"/>
          <a:stretch>
            <a:fillRect/>
          </a:stretch>
        </p:blipFill>
        <p:spPr>
          <a:xfrm>
            <a:off x="6620256" y="3712464"/>
            <a:ext cx="731520" cy="731520"/>
          </a:xfrm>
          <a:prstGeom prst="rect">
            <a:avLst/>
          </a:prstGeom>
        </p:spPr>
      </p:pic>
      <p:sp>
        <p:nvSpPr>
          <p:cNvPr id="13" name="Text 1"/>
          <p:cNvSpPr/>
          <p:nvPr>
            <p:ph idx="113" type="body" hasCustomPrompt="1"/>
          </p:nvPr>
        </p:nvSpPr>
        <p:spPr>
          <a:xfrm>
            <a:off x="7488936" y="3703320"/>
            <a:ext cx="4133088" cy="265176"/>
          </a:xfrm>
          <a:prstGeom prst="rect">
            <a:avLst/>
          </a:prstGeom>
          <a:noFill/>
          <a:ln/>
        </p:spPr>
        <p:txBody>
          <a:bodyPr wrap="square" rtlCol="0" anchor="t"/>
          <a:lstStyle/>
          <a:p>
            <a:pPr algn="l" indent="0" marL="0">
              <a:buNone/>
            </a:pPr>
            <a:r>
              <a:rPr lang="en-US" sz="1600" dirty="0">
                <a:solidFill>
                  <a:srgbClr val="000000"/>
                </a:solidFill>
                <a:latin typeface="Arial" pitchFamily="34" charset="0"/>
                <a:ea typeface="Arial" pitchFamily="34" charset="-122"/>
                <a:cs typeface="Arial" pitchFamily="34" charset="-120"/>
              </a:rPr>
              <a:t>Humain</a:t>
            </a:r>
            <a:endParaRPr lang="en-US" sz="1600" dirty="0"/>
          </a:p>
        </p:txBody>
      </p:sp>
      <p:sp>
        <p:nvSpPr>
          <p:cNvPr id="14" name="Text 1"/>
          <p:cNvSpPr/>
          <p:nvPr>
            <p:ph idx="114" type="body" hasCustomPrompt="1"/>
          </p:nvPr>
        </p:nvSpPr>
        <p:spPr>
          <a:xfrm>
            <a:off x="7488936" y="4041648"/>
            <a:ext cx="4133088" cy="64008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6% global AI workload, 6.6 GW by 2034</a:t>
            </a:r>
            <a:endParaRPr lang="en-US" sz="1200" dirty="0"/>
          </a:p>
        </p:txBody>
      </p:sp>
      <p:pic>
        <p:nvPicPr>
          <p:cNvPr id="15" name="Image 3" descr="data:image/svg+xml;base64,PHN2ZyB3aWR0aD0iNzIiIGhlaWdodD0iNzIiIHhtbG5zPSJodHRwOi8vd3d3LnczLm9yZy8yMDAwL3N2ZyIgeG1sbnM6eGxpbms9Imh0dHA6Ly93d3cudzMub3JnLzE5OTkveGxpbmsiIHhtbDpzcGFjZT0icHJlc2VydmUiIG92ZXJmbG93PSJoaWRkZW4iPjxnIHRyYW5zZm9ybT0idHJhbnNsYXRlKC05MTUgLTE0NSkiPjxwYXRoIGQ9Ik05NDEuNjg4IDE4MUM5NDEuNjg4IDE4My41MTkgOTM5LjY0NyAxODUuNTYgOTM3LjEyOCAxODUuNTYgOTM0LjYwOSAxODUuNTYgOTMyLjU2OCAxODMuNTE5IDkzMi41NjggMTgxIDkzMi41NjggMTc4LjQ4MSA5MzQuNjA5IDE3Ni40NCA5MzcuMTI4IDE3Ni40NCA5MzkuNjQ3IDE3Ni40NCA5NDEuNjg4IDE3OC40ODEgOTQxLjY4OCAxODFaIiBzdHJva2U9IiMwMDAwMDAiIGZpbGw9Im5vbmUiLz48cGF0aCBkPSJNOTU1LjggMTk0LjQ0Qzk1NS44IDE5Ni45NTkgOTUzLjc1OSAxOTkgOTUxLjI0IDE5OSA5NDguNzIxIDE5OSA5NDYuNjggMTk2Ljk1OSA5NDYuNjggMTk0LjQ0IDk0Ni42OCAxOTEuOTIxIDk0OC43MjEgMTg5Ljg4IDk1MS4yNCAxODkuODggOTUzLjc1OSAxODkuODggOTU1LjggMTkxLjkyMSA5NTUuOCAxOTQuNDRaIiBzdHJva2U9IiMwMDAwMDAiIGZpbGw9Im5vbmUiLz48cGF0aCBkPSJNOTc5LjMyIDE4MUM5NzkuMzIgMTk2LjUwOCA5NjYuNzQ4IDIwOS4wOCA5NTEuMjQgMjA5LjA4IDkzNS43MzIgMjA5LjA4IDkyMy4xNiAxOTYuNTA4IDkyMy4xNiAxODEgOTIzLjE2IDE2NS40OTIgOTM1LjczMiAxNTIuOTIgOTUxLjI0IDE1Mi45MiA5NjYuNzQ4IDE1Mi45MiA5NzkuMzIgMTY1LjQ5MiA5NzkuMzIgMTgxWiIgc3Ryb2tlPSIjMDAwMDAwIiBmaWxsPSJub25lIi8+PHBhdGggZD0iTTk1MS4yNCAxOTkgOTUxLjI0IDIwOS4wOCIgc3Ryb2tlPSIjMDAwMDAwIiBmaWxsPSJub25lIi8+PHBhdGggZD0iTTk1MS4yNCAxNTIuOTIgOTUxLjI0IDE4OS44OCIgc3Ryb2tlPSIjMDAwMDAwIiBmaWxsPSJub25lIi8+PHBhdGggZD0iTTk2OC4xMzYgMTY3LjU2Qzk2OC4xMzYgMTcwLjA3OSA5NjYuMDk1IDE3Mi4xMiA5NjMuNTc2IDE3Mi4xMiA5NjEuMDU3IDE3Mi4xMiA5NTkuMDE2IDE3MC4wNzkgOTU5LjAxNiAxNjcuNTYgOTU5LjAxNiAxNjUuMDQxIDk2MS4wNTcgMTYzIDk2My41NzYgMTYzIDk2Ni4wOTUgMTYzIDk2OC4xMzYgMTY1LjA0MSA5NjguMTM2IDE2Ny41NloiIHN0cm9rZT0iIzAwMDAwMCIgZmlsbD0ibm9uZSIvPjxwYXRoIGQ9Ik05NjguMDg4IDE2Ny41NiA5NzUuOTEyIDE2Ny41NiIgc3Ryb2tlPSIjMDAwMDAwIiBmaWxsPSJub25lIi8+PHBhdGggZD0iTTkyNi41NjggMTY3LjU2IDk1OS4wMTYgMTY3LjU2IiBzdHJva2U9IiMwMDAwMDAiIGZpbGw9Im5vbmUiLz48cGF0aCBkPSJNOTYyLjA4OCAxNjMuMjg4Qzk1OC42OCAxNTUuMzY4IDk1My44OCAxNTMuMDE2IDk1My44OCAxNTMuMDE2IiBzdHJva2U9IiMwMDAwMDAiIGZpbGw9Im5vbmUiLz48cGF0aCBkPSJNOTUzLjg4IDIwOC45MzZDOTUzLjg4IDIwOC45MzYgOTYyLjU2OCAyMDQuMTg0IDk2NS4xMTIgMTg2LjA0IDk2NS43ODQgMTgxLjI0IDk2NS4xMTIgMTc1LjgxNiA5NjUuMTEyIDE3NS44MTYgOTY0Ljk2OCAxNzQuNTIgOTY0LjgyNCAxNzMuMjcyIDk2NC42MzIgMTcyLjA3MiIgc3Ryb2tlPSIjMDAwMDAwIiBmaWxsPSJub25lIi8+PHBhdGggZD0iTTk0MS42NCAxODEgOTc0LjIzMiAxODEiIHN0cm9rZT0iIzAwMDAwMCIgZmlsbD0ibm9uZSIvPjxwYXRoIGQ9Ik05MjguMjk2IDE4MSA5MzIuNTY4IDE4MSIgc3Ryb2tlPSIjMDAwMDAwIiBmaWxsPSJub25lIi8+PHBhdGggZD0iTTk1NS44IDE5NC40NCA5NzUuOTEyIDE5NC40NCIgc3Ryb2tlPSIjMDAwMDAwIiBmaWxsPSJub25lIi8+PHBhdGggZD0iTTkyNi42MTYgMTk0LjQ0IDk0Ni42OCAxOTQuNDQiIHN0cm9rZT0iIzAwMDAwMCIgZmlsbD0ibm9uZSIvPjxwYXRoIGQ9Ik05MzcuMzIgMTg1LjU2QzkzNy4zMiAxODUuNzUyIDkzNy4zMiAxODUuOTQ0IDkzNy4zNjggMTg2LjA4OCA5MzkuOTEyIDIwNC4yMzIgOTQ4LjYgMjA4Ljk4NCA5NDguNiAyMDguOTg0IiBzdHJva2U9IiMwMDAwMDAiIGZpbGw9Im5vbmUiLz48cGF0aCBkPSJNOTQ4LjY0OCAxNTMuMDY0Qzk0OC42NDggMTUzLjA2NCA5MzkuMDk2IDE1Ny43MiA5MzcuNDE2IDE3NS45MTIgOTM3LjQxNiAxNzUuOTEyIDkzNy40MTYgMTc2LjEwNCA5MzcuMzY4IDE3Ni40ODgiIHN0cm9rZT0iIzAwMDAwMCIgZmlsbD0ibm9uZSIvPjwvZz48L3N2Zz4=">    </p:cNvPr>
          <p:cNvPicPr>
            <a:picLocks noChangeAspect="1"/>
          </p:cNvPicPr>
          <p:nvPr/>
        </p:nvPicPr>
        <p:blipFill>
          <a:blip r:embed="rId4"/>
          <a:stretch>
            <a:fillRect/>
          </a:stretch>
        </p:blipFill>
        <p:spPr>
          <a:xfrm>
            <a:off x="6620256" y="4928616"/>
            <a:ext cx="731520" cy="731520"/>
          </a:xfrm>
          <a:prstGeom prst="rect">
            <a:avLst/>
          </a:prstGeom>
        </p:spPr>
      </p:pic>
      <p:sp>
        <p:nvSpPr>
          <p:cNvPr id="16" name="Text 1"/>
          <p:cNvSpPr/>
          <p:nvPr>
            <p:ph idx="116" type="body" hasCustomPrompt="1"/>
          </p:nvPr>
        </p:nvSpPr>
        <p:spPr>
          <a:xfrm>
            <a:off x="7488936" y="4928616"/>
            <a:ext cx="4133088" cy="265176"/>
          </a:xfrm>
          <a:prstGeom prst="rect">
            <a:avLst/>
          </a:prstGeom>
          <a:noFill/>
          <a:ln/>
        </p:spPr>
        <p:txBody>
          <a:bodyPr wrap="square" rtlCol="0" anchor="t"/>
          <a:lstStyle/>
          <a:p>
            <a:pPr algn="l" indent="0" marL="0">
              <a:buNone/>
            </a:pPr>
            <a:r>
              <a:rPr lang="en-US" sz="1600" dirty="0">
                <a:solidFill>
                  <a:srgbClr val="000000"/>
                </a:solidFill>
                <a:latin typeface="Arial" pitchFamily="34" charset="0"/>
                <a:ea typeface="Arial" pitchFamily="34" charset="-122"/>
                <a:cs typeface="Arial" pitchFamily="34" charset="-120"/>
              </a:rPr>
              <a:t>Locations</a:t>
            </a:r>
            <a:endParaRPr lang="en-US" sz="1600" dirty="0"/>
          </a:p>
        </p:txBody>
      </p:sp>
      <p:sp>
        <p:nvSpPr>
          <p:cNvPr id="17" name="Text 1"/>
          <p:cNvSpPr/>
          <p:nvPr>
            <p:ph idx="117" type="body" hasCustomPrompt="1"/>
          </p:nvPr>
        </p:nvSpPr>
        <p:spPr>
          <a:xfrm>
            <a:off x="7488936" y="5266944"/>
            <a:ext cx="4133088" cy="64008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Riyadh, Dammam, Jeddah concentration</a:t>
            </a:r>
            <a:endParaRPr lang="en-US" sz="1200" dirty="0"/>
          </a:p>
        </p:txBody>
      </p:sp>
      <p:sp>
        <p:nvSpPr>
          <p:cNvPr id="18" name="Text 1"/>
          <p:cNvSpPr/>
          <p:nvPr>
            <p:ph idx="118" type="body" hasCustomPrompt="1"/>
          </p:nvPr>
        </p:nvSpPr>
        <p:spPr>
          <a:xfrm>
            <a:off x="6099048" y="0"/>
            <a:ext cx="5532120" cy="320040"/>
          </a:xfrm>
          <a:prstGeom prst="rect">
            <a:avLst/>
          </a:prstGeom>
          <a:noFill/>
          <a:ln/>
        </p:spPr>
        <p:txBody>
          <a:bodyPr wrap="square" rtlCol="0" anchor="ctr"/>
          <a:lstStyle/>
          <a:p>
            <a:pPr algn="r" indent="0" marL="0">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19" name="Text 1"/>
          <p:cNvSpPr/>
          <p:nvPr>
            <p:ph idx="119" type="body" hasCustomPrompt="1"/>
          </p:nvPr>
        </p:nvSpPr>
        <p:spPr>
          <a:xfrm>
            <a:off x="566928" y="5687568"/>
            <a:ext cx="11064240" cy="530352"/>
          </a:xfrm>
          <a:prstGeom prst="rect">
            <a:avLst/>
          </a:prstGeom>
          <a:noFill/>
          <a:ln/>
        </p:spPr>
        <p:txBody>
          <a:bodyPr wrap="square" rtlCol="0" anchor="b"/>
          <a:lstStyle/>
          <a:p>
            <a:pPr algn="l" indent="0" marL="0">
              <a:buNone/>
            </a:pPr>
            <a:r>
              <a:rPr lang="en-US" sz="700" dirty="0">
                <a:solidFill>
                  <a:srgbClr val="000000"/>
                </a:solidFill>
                <a:latin typeface="Arial" pitchFamily="34" charset="0"/>
                <a:ea typeface="Arial" pitchFamily="34" charset="-122"/>
                <a:cs typeface="Arial" pitchFamily="34" charset="-120"/>
              </a:rPr>
              <a:t>Source: S&amp;P Global Market Intelligence | Web sources: https://www.spglobal.com/en/research-insights/special-reports/look-forward/data-center-frontiers/saudi-arabia-data-center-market</a:t>
            </a:r>
            <a:endParaRPr lang="en-US" sz="700" dirty="0"/>
          </a:p>
        </p:txBody>
      </p:sp>
      <p:sp>
        <p:nvSpPr>
          <p:cNvPr id="21" name="Text 1"/>
          <p:cNvSpPr/>
          <p:nvPr>
            <p:ph idx="106" hasCustomPrompt="1"/>
          </p:nvPr>
        </p:nvSpPr>
        <p:spPr>
          <a:xfrm>
            <a:off x="6620256" y="1261872"/>
            <a:ext cx="731520" cy="731520"/>
          </a:xfrm>
          <a:prstGeom prst="rect">
            <a:avLst/>
          </a:prstGeom>
          <a:noFill/>
          <a:ln/>
        </p:spPr>
        <p:txBody>
          <a:bodyPr wrap="square" rtlCol="0"/>
          <a:lstStyle/>
          <a:p>
            <a:pPr indent="0" marL="0">
              <a:buNone/>
            </a:pPr>
            <a:endParaRPr lang="en-US" dirty="0"/>
          </a:p>
        </p:txBody>
      </p:sp>
      <p:sp>
        <p:nvSpPr>
          <p:cNvPr id="22" name="Text 1"/>
          <p:cNvSpPr/>
          <p:nvPr>
            <p:ph idx="109" hasCustomPrompt="1"/>
          </p:nvPr>
        </p:nvSpPr>
        <p:spPr>
          <a:xfrm>
            <a:off x="6620256" y="2487168"/>
            <a:ext cx="731520" cy="731520"/>
          </a:xfrm>
          <a:prstGeom prst="rect">
            <a:avLst/>
          </a:prstGeom>
          <a:noFill/>
          <a:ln/>
        </p:spPr>
        <p:txBody>
          <a:bodyPr wrap="square" rtlCol="0"/>
          <a:lstStyle/>
          <a:p>
            <a:pPr indent="0" marL="0">
              <a:buNone/>
            </a:pPr>
            <a:endParaRPr lang="en-US" dirty="0"/>
          </a:p>
        </p:txBody>
      </p:sp>
      <p:sp>
        <p:nvSpPr>
          <p:cNvPr id="23" name="Text 1"/>
          <p:cNvSpPr/>
          <p:nvPr>
            <p:ph idx="112" hasCustomPrompt="1"/>
          </p:nvPr>
        </p:nvSpPr>
        <p:spPr>
          <a:xfrm>
            <a:off x="6620256" y="3712464"/>
            <a:ext cx="731520" cy="731520"/>
          </a:xfrm>
          <a:prstGeom prst="rect">
            <a:avLst/>
          </a:prstGeom>
          <a:noFill/>
          <a:ln/>
        </p:spPr>
        <p:txBody>
          <a:bodyPr wrap="square" rtlCol="0"/>
          <a:lstStyle/>
          <a:p>
            <a:pPr indent="0" marL="0">
              <a:buNone/>
            </a:pPr>
            <a:endParaRPr lang="en-US" dirty="0"/>
          </a:p>
        </p:txBody>
      </p:sp>
      <p:sp>
        <p:nvSpPr>
          <p:cNvPr id="24" name="Text 1"/>
          <p:cNvSpPr/>
          <p:nvPr>
            <p:ph idx="115" hasCustomPrompt="1"/>
          </p:nvPr>
        </p:nvSpPr>
        <p:spPr>
          <a:xfrm>
            <a:off x="6620256" y="4928616"/>
            <a:ext cx="731520" cy="731520"/>
          </a:xfrm>
          <a:prstGeom prst="rect">
            <a:avLst/>
          </a:prstGeom>
          <a:noFill/>
          <a:ln/>
        </p:spPr>
        <p:txBody>
          <a:bodyPr wrap="square" rtlCol="0"/>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hasCustomPrompt="1"/>
          </p:nvPr>
        </p:nvSpPr>
        <p:spPr>
          <a:xfrm>
            <a:off x="11320272" y="6565392"/>
            <a:ext cx="310896"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4</a:t>
            </a:r>
            <a:endParaRPr lang="en-US" sz="700" dirty="0"/>
          </a:p>
        </p:txBody>
      </p:sp>
      <p:sp>
        <p:nvSpPr>
          <p:cNvPr id="4" name="Text 1"/>
          <p:cNvSpPr/>
          <p:nvPr>
            <p:ph idx="103" type="title" hasCustomPrompt="1"/>
          </p:nvPr>
        </p:nvSpPr>
        <p:spPr>
          <a:xfrm>
            <a:off x="566928" y="347472"/>
            <a:ext cx="11064240" cy="457200"/>
          </a:xfrm>
          <a:prstGeom prst="rect">
            <a:avLst/>
          </a:prstGeom>
          <a:noFill/>
          <a:ln/>
        </p:spPr>
        <p:txBody>
          <a:bodyPr wrap="square" rtlCol="0" anchor="t"/>
          <a:lstStyle/>
          <a:p>
            <a:pPr algn="l" indent="0" marL="0">
              <a:buNone/>
            </a:pPr>
            <a:r>
              <a:rPr lang="en-US" sz="2400" dirty="0">
                <a:solidFill>
                  <a:srgbClr val="000000"/>
                </a:solidFill>
                <a:latin typeface="Arial" pitchFamily="34" charset="0"/>
                <a:ea typeface="Arial" pitchFamily="34" charset="-122"/>
                <a:cs typeface="Arial" pitchFamily="34" charset="-120"/>
              </a:rPr>
              <a:t>Strategic Advantages</a:t>
            </a:r>
            <a:endParaRPr lang="en-US" sz="2400" dirty="0"/>
          </a:p>
        </p:txBody>
      </p:sp>
      <p:sp>
        <p:nvSpPr>
          <p:cNvPr id="5" name="Text 1"/>
          <p:cNvSpPr/>
          <p:nvPr>
            <p:ph idx="104" type="body" hasCustomPrompt="1"/>
          </p:nvPr>
        </p:nvSpPr>
        <p:spPr>
          <a:xfrm>
            <a:off x="566928" y="896112"/>
            <a:ext cx="1106424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Energy &amp; Investment Climate</a:t>
            </a:r>
            <a:endParaRPr lang="en-US" sz="1800" dirty="0"/>
          </a:p>
        </p:txBody>
      </p:sp>
      <p:sp>
        <p:nvSpPr>
          <p:cNvPr id="6" name="Text 1"/>
          <p:cNvSpPr/>
          <p:nvPr>
            <p:ph idx="105" type="body" hasCustomPrompt="1"/>
          </p:nvPr>
        </p:nvSpPr>
        <p:spPr>
          <a:xfrm>
            <a:off x="566928" y="1261872"/>
            <a:ext cx="5029200" cy="1380744"/>
          </a:xfrm>
          <a:prstGeom prst="rect">
            <a:avLst/>
          </a:prstGeom>
          <a:noFill/>
          <a:ln/>
        </p:spPr>
        <p:txBody>
          <a:bodyPr wrap="square" rtlCol="0" anchor="t"/>
          <a:lstStyle/>
          <a:p>
            <a:pPr algn="l" indent="0" marL="0">
              <a:buNone/>
            </a:pPr>
            <a:r>
              <a:rPr lang="en-US" sz="1200" dirty="0">
                <a:solidFill>
                  <a:srgbClr val="000000"/>
                </a:solidFill>
                <a:latin typeface="Arial" pitchFamily="34" charset="0"/>
                <a:ea typeface="Arial" pitchFamily="34" charset="-122"/>
                <a:cs typeface="Arial" pitchFamily="34" charset="-120"/>
              </a:rPr>
              <a:t>Saudi Arabia leverages abundant energy resources exceeding 400 TWh annually with reliable supply infrastructure, while regulatory reforms enable 100% foreign ownership and profit repatriation.</a:t>
            </a:r>
            <a:endParaRPr lang="en-US" sz="1200" dirty="0"/>
          </a:p>
        </p:txBody>
      </p:sp>
      <p:sp>
        <p:nvSpPr>
          <p:cNvPr id="7" name="Text 1"/>
          <p:cNvSpPr/>
          <p:nvPr>
            <p:ph idx="106" type="body" hasCustomPrompt="1"/>
          </p:nvPr>
        </p:nvSpPr>
        <p:spPr>
          <a:xfrm>
            <a:off x="566928" y="2825496"/>
            <a:ext cx="5029200" cy="2770632"/>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Foreign direct investment surged from $5.3B in 2020 to $31B in 2024, supported by Vision 2030's renewable energy target of 50% by 2030 and establishment of Special Economic Zones.</a:t>
            </a:r>
            <a:endParaRPr lang="en-US" sz="1200" dirty="0"/>
          </a:p>
        </p:txBody>
      </p:sp>
      <p:sp>
        <p:nvSpPr>
          <p:cNvPr id="8" name="Text 1"/>
          <p:cNvSpPr/>
          <p:nvPr>
            <p:ph idx="108" type="body" hasCustomPrompt="1"/>
          </p:nvPr>
        </p:nvSpPr>
        <p:spPr>
          <a:xfrm>
            <a:off x="6099048" y="0"/>
            <a:ext cx="5532120" cy="320040"/>
          </a:xfrm>
          <a:prstGeom prst="rect">
            <a:avLst/>
          </a:prstGeom>
          <a:noFill/>
          <a:ln/>
        </p:spPr>
        <p:txBody>
          <a:bodyPr wrap="square" rtlCol="0" anchor="ctr"/>
          <a:lstStyle/>
          <a:p>
            <a:pPr algn="r" indent="0" marL="0">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9" name="Text 1"/>
          <p:cNvSpPr/>
          <p:nvPr>
            <p:ph idx="109" type="body" hasCustomPrompt="1"/>
          </p:nvPr>
        </p:nvSpPr>
        <p:spPr>
          <a:xfrm>
            <a:off x="566928" y="5687568"/>
            <a:ext cx="5029200" cy="530352"/>
          </a:xfrm>
          <a:prstGeom prst="rect">
            <a:avLst/>
          </a:prstGeom>
          <a:noFill/>
          <a:ln/>
        </p:spPr>
        <p:txBody>
          <a:bodyPr wrap="square" rtlCol="0" anchor="b"/>
          <a:lstStyle/>
          <a:p>
            <a:pPr algn="l" indent="0" marL="0">
              <a:buNone/>
            </a:pPr>
            <a:r>
              <a:rPr lang="en-US" sz="700" dirty="0">
                <a:solidFill>
                  <a:srgbClr val="000000"/>
                </a:solidFill>
                <a:latin typeface="Arial" pitchFamily="34" charset="0"/>
                <a:ea typeface="Arial" pitchFamily="34" charset="-122"/>
                <a:cs typeface="Arial" pitchFamily="34" charset="-120"/>
              </a:rPr>
              <a:t>Source: S&amp;P Global Market Intelligence | Web sources: https://www.spglobal.com/en/research-insights/special-reports/look-forward/data-center-frontiers/saudi-arabia-data-center-market</a:t>
            </a:r>
            <a:endParaRPr lang="en-US" sz="700" dirty="0"/>
          </a:p>
        </p:txBody>
      </p:sp>
      <p:graphicFrame>
        <p:nvGraphicFramePr>
          <p:cNvPr id="10" name="Chart 0" descr=""/>
          <p:cNvGraphicFramePr/>
          <p:nvPr/>
        </p:nvGraphicFramePr>
        <p:xfrm>
          <a:off x="6611112" y="1261872"/>
          <a:ext cx="5029200" cy="4937760"/>
        </p:xfrm>
        <a:graphic xmlns:a="http://schemas.openxmlformats.org/drawingml/2006/main">
          <a:graphicData uri="http://schemas.openxmlformats.org/drawingml/2006/chart">
            <c:chart xmlns:c="http://schemas.openxmlformats.org/drawingml/2006/chart" r:id="rId1"/>
          </a:graphicData>
        </a:graphic>
      </p:graphicFrame>
      <p:sp>
        <p:nvSpPr>
          <p:cNvPr id="11" name="Text 1"/>
          <p:cNvSpPr/>
          <p:nvPr>
            <p:ph idx="107" type="chart" hasCustomPrompt="1"/>
          </p:nvPr>
        </p:nvSpPr>
        <p:spPr>
          <a:xfrm>
            <a:off x="6611112" y="1261872"/>
            <a:ext cx="5029200" cy="4937760"/>
          </a:xfrm>
          <a:prstGeom prst="rect">
            <a:avLst/>
          </a:prstGeom>
          <a:noFill/>
          <a:ln/>
        </p:spPr>
        <p:txBody>
          <a:bodyPr wrap="square" lIns="0" tIns="0" rIns="0" bIns="0" rtlCol="0" anchor="ctr"/>
          <a:lstStyle/>
          <a:p>
            <a:pPr algn="ctr" indent="0" marL="0">
              <a:buNone/>
            </a:pP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hasCustomPrompt="1"/>
          </p:nvPr>
        </p:nvSpPr>
        <p:spPr>
          <a:xfrm>
            <a:off x="11320272" y="6565392"/>
            <a:ext cx="310896"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5</a:t>
            </a:r>
            <a:endParaRPr lang="en-US" sz="700" dirty="0"/>
          </a:p>
        </p:txBody>
      </p:sp>
      <p:sp>
        <p:nvSpPr>
          <p:cNvPr id="4" name="Text 1"/>
          <p:cNvSpPr/>
          <p:nvPr>
            <p:ph idx="103" type="title" hasCustomPrompt="1"/>
          </p:nvPr>
        </p:nvSpPr>
        <p:spPr>
          <a:xfrm>
            <a:off x="566928" y="347472"/>
            <a:ext cx="11064240" cy="457200"/>
          </a:xfrm>
          <a:prstGeom prst="rect">
            <a:avLst/>
          </a:prstGeom>
          <a:noFill/>
          <a:ln/>
        </p:spPr>
        <p:txBody>
          <a:bodyPr wrap="square" rtlCol="0" anchor="t"/>
          <a:lstStyle/>
          <a:p>
            <a:pPr algn="l" indent="0" marL="0">
              <a:buNone/>
            </a:pPr>
            <a:r>
              <a:rPr lang="en-US" sz="2400" dirty="0">
                <a:solidFill>
                  <a:srgbClr val="000000"/>
                </a:solidFill>
                <a:latin typeface="Arial" pitchFamily="34" charset="0"/>
                <a:ea typeface="Arial" pitchFamily="34" charset="-122"/>
                <a:cs typeface="Arial" pitchFamily="34" charset="-120"/>
              </a:rPr>
              <a:t>Global Partnerships &amp; Future Outlook</a:t>
            </a:r>
            <a:endParaRPr lang="en-US" sz="2400" dirty="0"/>
          </a:p>
        </p:txBody>
      </p:sp>
      <p:sp>
        <p:nvSpPr>
          <p:cNvPr id="5" name="Text 1"/>
          <p:cNvSpPr/>
          <p:nvPr>
            <p:ph idx="104" type="body" hasCustomPrompt="1"/>
          </p:nvPr>
        </p:nvSpPr>
        <p:spPr>
          <a:xfrm>
            <a:off x="566928" y="896112"/>
            <a:ext cx="1106424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Major cloud providers and AI investments signal regional technology hub emergence</a:t>
            </a:r>
            <a:endParaRPr lang="en-US" sz="18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7784" y="1261872"/>
            <a:ext cx="1161288" cy="1161288"/>
          </a:xfrm>
          <a:prstGeom prst="rect">
            <a:avLst/>
          </a:prstGeom>
        </p:spPr>
      </p:pic>
      <p:sp>
        <p:nvSpPr>
          <p:cNvPr id="7" name="Text 1"/>
          <p:cNvSpPr/>
          <p:nvPr>
            <p:ph idx="106" type="body" hasCustomPrompt="1"/>
          </p:nvPr>
        </p:nvSpPr>
        <p:spPr>
          <a:xfrm>
            <a:off x="566928" y="2633472"/>
            <a:ext cx="3374136" cy="384048"/>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Hyperscalers</a:t>
            </a:r>
            <a:endParaRPr lang="en-US" sz="1800" dirty="0"/>
          </a:p>
        </p:txBody>
      </p:sp>
      <p:sp>
        <p:nvSpPr>
          <p:cNvPr id="8" name="Text 1"/>
          <p:cNvSpPr/>
          <p:nvPr>
            <p:ph idx="107" type="body" hasCustomPrompt="1"/>
          </p:nvPr>
        </p:nvSpPr>
        <p:spPr>
          <a:xfrm>
            <a:off x="566928" y="3163824"/>
            <a:ext cx="3374136" cy="2441448"/>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AWS launching 2026, Microsoft deploying 3 data centers, Oracle establishing Jeddah &amp; Riyadh regions for comprehensive cloud infrastructure coverage</a:t>
            </a:r>
            <a:endParaRPr lang="en-US" sz="12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07408" y="1261872"/>
            <a:ext cx="1161288" cy="1161288"/>
          </a:xfrm>
          <a:prstGeom prst="rect">
            <a:avLst/>
          </a:prstGeom>
        </p:spPr>
      </p:pic>
      <p:sp>
        <p:nvSpPr>
          <p:cNvPr id="10" name="Text 1"/>
          <p:cNvSpPr/>
          <p:nvPr>
            <p:ph idx="109" type="body" hasCustomPrompt="1"/>
          </p:nvPr>
        </p:nvSpPr>
        <p:spPr>
          <a:xfrm>
            <a:off x="4407408" y="2633472"/>
            <a:ext cx="3374136" cy="384048"/>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AI Investment</a:t>
            </a:r>
            <a:endParaRPr lang="en-US" sz="1800" dirty="0"/>
          </a:p>
        </p:txBody>
      </p:sp>
      <p:sp>
        <p:nvSpPr>
          <p:cNvPr id="11" name="Text 1"/>
          <p:cNvSpPr/>
          <p:nvPr>
            <p:ph idx="110" type="body" hasCustomPrompt="1"/>
          </p:nvPr>
        </p:nvSpPr>
        <p:spPr>
          <a:xfrm>
            <a:off x="4407408" y="3163824"/>
            <a:ext cx="3374136" cy="2441448"/>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NVIDIA partnership delivers $10B investment, 18,000 Blackwell chips, 500 MW capacity for advanced AI workload processing capabilities</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57032" y="1261872"/>
            <a:ext cx="1161288" cy="1161288"/>
          </a:xfrm>
          <a:prstGeom prst="rect">
            <a:avLst/>
          </a:prstGeom>
        </p:spPr>
      </p:pic>
      <p:sp>
        <p:nvSpPr>
          <p:cNvPr id="13" name="Text 1"/>
          <p:cNvSpPr/>
          <p:nvPr>
            <p:ph idx="112" type="body" hasCustomPrompt="1"/>
          </p:nvPr>
        </p:nvSpPr>
        <p:spPr>
          <a:xfrm>
            <a:off x="8257032" y="2633472"/>
            <a:ext cx="3374136" cy="384048"/>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Sustainability</a:t>
            </a:r>
            <a:endParaRPr lang="en-US" sz="1800" dirty="0"/>
          </a:p>
        </p:txBody>
      </p:sp>
      <p:sp>
        <p:nvSpPr>
          <p:cNvPr id="14" name="Text 1"/>
          <p:cNvSpPr/>
          <p:nvPr>
            <p:ph idx="113" type="body" hasCustomPrompt="1"/>
          </p:nvPr>
        </p:nvSpPr>
        <p:spPr>
          <a:xfrm>
            <a:off x="8257032" y="3163824"/>
            <a:ext cx="3374136" cy="2441448"/>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Managing water constraints (15B liters used 2024), infrastructure scaling, regulatory frameworks while maintaining market leadership potential</a:t>
            </a:r>
            <a:endParaRPr lang="en-US" sz="1200" dirty="0"/>
          </a:p>
        </p:txBody>
      </p:sp>
      <p:sp>
        <p:nvSpPr>
          <p:cNvPr id="15" name="Text 1"/>
          <p:cNvSpPr/>
          <p:nvPr>
            <p:ph idx="114" type="body" hasCustomPrompt="1"/>
          </p:nvPr>
        </p:nvSpPr>
        <p:spPr>
          <a:xfrm>
            <a:off x="6099048" y="0"/>
            <a:ext cx="5532120" cy="320040"/>
          </a:xfrm>
          <a:prstGeom prst="rect">
            <a:avLst/>
          </a:prstGeom>
          <a:noFill/>
          <a:ln/>
        </p:spPr>
        <p:txBody>
          <a:bodyPr wrap="square" rtlCol="0" anchor="ctr"/>
          <a:lstStyle/>
          <a:p>
            <a:pPr algn="r" indent="0" marL="0">
              <a:buNone/>
            </a:pPr>
            <a:r>
              <a:rPr lang="en-US" sz="900" dirty="0">
                <a:solidFill>
                  <a:srgbClr val="000000"/>
                </a:solidFill>
                <a:latin typeface="Arial" pitchFamily="34" charset="0"/>
                <a:ea typeface="Arial" pitchFamily="34" charset="-122"/>
                <a:cs typeface="Arial" pitchFamily="34" charset="-120"/>
              </a:rPr>
              <a:t>Saudi Arabia Data Center Market / January 2026</a:t>
            </a:r>
            <a:endParaRPr lang="en-US" sz="900" dirty="0"/>
          </a:p>
        </p:txBody>
      </p:sp>
      <p:sp>
        <p:nvSpPr>
          <p:cNvPr id="16" name="Text 1"/>
          <p:cNvSpPr/>
          <p:nvPr>
            <p:ph idx="115" type="body" hasCustomPrompt="1"/>
          </p:nvPr>
        </p:nvSpPr>
        <p:spPr>
          <a:xfrm>
            <a:off x="566928" y="5687568"/>
            <a:ext cx="11064240" cy="530352"/>
          </a:xfrm>
          <a:prstGeom prst="rect">
            <a:avLst/>
          </a:prstGeom>
          <a:noFill/>
          <a:ln/>
        </p:spPr>
        <p:txBody>
          <a:bodyPr wrap="square" rtlCol="0" anchor="b"/>
          <a:lstStyle/>
          <a:p>
            <a:pPr algn="l" indent="0" marL="0">
              <a:buNone/>
            </a:pPr>
            <a:r>
              <a:rPr lang="en-US" sz="700" dirty="0">
                <a:solidFill>
                  <a:srgbClr val="000000"/>
                </a:solidFill>
                <a:latin typeface="Arial" pitchFamily="34" charset="0"/>
                <a:ea typeface="Arial" pitchFamily="34" charset="-122"/>
                <a:cs typeface="Arial" pitchFamily="34" charset="-120"/>
              </a:rPr>
              <a:t>Source: S&amp;P Global Market Intelligence | Web sources: https://www.spglobal.com/en/research-insights/special-reports/look-forward/data-center-frontiers/saudi-arabia-data-center-market</a:t>
            </a:r>
            <a:endParaRPr lang="en-US" sz="700" dirty="0"/>
          </a:p>
        </p:txBody>
      </p:sp>
      <p:sp>
        <p:nvSpPr>
          <p:cNvPr id="17" name="Text 1"/>
          <p:cNvSpPr/>
          <p:nvPr>
            <p:ph idx="105" hasCustomPrompt="1"/>
          </p:nvPr>
        </p:nvSpPr>
        <p:spPr>
          <a:xfrm>
            <a:off x="557784" y="1261872"/>
            <a:ext cx="1161288" cy="1161288"/>
          </a:xfrm>
          <a:prstGeom prst="rect">
            <a:avLst/>
          </a:prstGeom>
          <a:noFill/>
          <a:ln/>
        </p:spPr>
        <p:txBody>
          <a:bodyPr wrap="square" rtlCol="0"/>
          <a:lstStyle/>
          <a:p>
            <a:pPr indent="0" marL="0">
              <a:buNone/>
            </a:pPr>
            <a:endParaRPr lang="en-US" dirty="0"/>
          </a:p>
        </p:txBody>
      </p:sp>
      <p:sp>
        <p:nvSpPr>
          <p:cNvPr id="18" name="Text 1"/>
          <p:cNvSpPr/>
          <p:nvPr>
            <p:ph idx="108" hasCustomPrompt="1"/>
          </p:nvPr>
        </p:nvSpPr>
        <p:spPr>
          <a:xfrm>
            <a:off x="4407408" y="1261872"/>
            <a:ext cx="1161288" cy="1161288"/>
          </a:xfrm>
          <a:prstGeom prst="rect">
            <a:avLst/>
          </a:prstGeom>
          <a:noFill/>
          <a:ln/>
        </p:spPr>
        <p:txBody>
          <a:bodyPr wrap="square" rtlCol="0"/>
          <a:lstStyle/>
          <a:p>
            <a:pPr indent="0" marL="0">
              <a:buNone/>
            </a:pPr>
            <a:endParaRPr lang="en-US" dirty="0"/>
          </a:p>
        </p:txBody>
      </p:sp>
      <p:sp>
        <p:nvSpPr>
          <p:cNvPr id="19" name="Text 1"/>
          <p:cNvSpPr/>
          <p:nvPr>
            <p:ph idx="111" hasCustomPrompt="1"/>
          </p:nvPr>
        </p:nvSpPr>
        <p:spPr>
          <a:xfrm>
            <a:off x="8257032" y="1261872"/>
            <a:ext cx="1161288" cy="1161288"/>
          </a:xfrm>
          <a:prstGeom prst="rect">
            <a:avLst/>
          </a:prstGeom>
          <a:noFill/>
          <a:ln/>
        </p:spPr>
        <p:txBody>
          <a:bodyPr wrap="square" rtlCol="0"/>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0000"/>
          </a:solidFill>
          <a:ln/>
        </p:spPr>
      </p:sp>
      <p:pic>
        <p:nvPicPr>
          <p:cNvPr id="3" name="Image 0" descr="preencoded.png">    </p:cNvPr>
          <p:cNvPicPr>
            <a:picLocks noChangeAspect="1"/>
          </p:cNvPicPr>
          <p:nvPr/>
        </p:nvPicPr>
        <p:blipFill>
          <a:blip r:embed="rId1"/>
          <a:stretch>
            <a:fillRect/>
          </a:stretch>
        </p:blipFill>
        <p:spPr>
          <a:xfrm>
            <a:off x="6611112" y="0"/>
            <a:ext cx="5577840" cy="6858000"/>
          </a:xfrm>
          <a:prstGeom prst="rect">
            <a:avLst/>
          </a:prstGeom>
        </p:spPr>
      </p:pic>
      <p:sp>
        <p:nvSpPr>
          <p:cNvPr id="4" name="Text 1"/>
          <p:cNvSpPr/>
          <p:nvPr/>
        </p:nvSpPr>
        <p:spPr>
          <a:xfrm>
            <a:off x="11320272" y="6565392"/>
            <a:ext cx="310896" cy="219456"/>
          </a:xfrm>
          <a:prstGeom prst="rect">
            <a:avLst/>
          </a:prstGeom>
          <a:noFill/>
          <a:ln/>
        </p:spPr>
        <p:txBody>
          <a:bodyPr wrap="square" lIns="0" tIns="0" rIns="0" bIns="0" rtlCol="0" anchor="ctr"/>
          <a:lstStyle/>
          <a:p>
            <a:pPr algn="r" indent="0" marL="0">
              <a:buNone/>
            </a:pPr>
            <a:r>
              <a:rPr lang="en-US" sz="700" dirty="0">
                <a:solidFill>
                  <a:srgbClr val="FFFFFF"/>
                </a:solidFill>
                <a:latin typeface="Arial" pitchFamily="34" charset="0"/>
                <a:ea typeface="Arial" pitchFamily="34" charset="-122"/>
                <a:cs typeface="Arial" pitchFamily="34" charset="-120"/>
              </a:rPr>
              <a:t>6</a:t>
            </a:r>
            <a:endParaRPr lang="en-US" sz="700" dirty="0"/>
          </a:p>
        </p:txBody>
      </p:sp>
      <p:sp>
        <p:nvSpPr>
          <p:cNvPr id="5" name="Text 2"/>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2026 S&amp;P Global.</a:t>
            </a:r>
            <a:endParaRPr lang="en-US" sz="700" dirty="0"/>
          </a:p>
        </p:txBody>
      </p:sp>
      <p:sp>
        <p:nvSpPr>
          <p:cNvPr id="6" name="Text 3"/>
          <p:cNvSpPr/>
          <p:nvPr/>
        </p:nvSpPr>
        <p:spPr>
          <a:xfrm>
            <a:off x="566928" y="347472"/>
            <a:ext cx="5029200" cy="457200"/>
          </a:xfrm>
          <a:prstGeom prst="rect">
            <a:avLst/>
          </a:prstGeom>
          <a:noFill/>
          <a:ln/>
        </p:spPr>
        <p:txBody>
          <a:bodyPr wrap="square" lIns="0" tIns="0" rIns="0" bIns="0" rtlCol="0" anchor="ctr"/>
          <a:lstStyle/>
          <a:p>
            <a:pPr algn="l" indent="0" marL="0">
              <a:buNone/>
            </a:pPr>
            <a:r>
              <a:rPr lang="en-US" sz="3600" dirty="0">
                <a:solidFill>
                  <a:srgbClr val="FFFFFF"/>
                </a:solidFill>
                <a:latin typeface="Arial" pitchFamily="34" charset="0"/>
                <a:ea typeface="Arial" pitchFamily="34" charset="-122"/>
                <a:cs typeface="Arial" pitchFamily="34" charset="-120"/>
              </a:rPr>
              <a:t>Contact us</a:t>
            </a:r>
            <a:endParaRPr lang="en-US" sz="3600" dirty="0"/>
          </a:p>
        </p:txBody>
      </p:sp>
      <p:sp>
        <p:nvSpPr>
          <p:cNvPr id="7" name="Text 4"/>
          <p:cNvSpPr/>
          <p:nvPr/>
        </p:nvSpPr>
        <p:spPr>
          <a:xfrm>
            <a:off x="566928" y="1197864"/>
            <a:ext cx="5029200" cy="365760"/>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Primary contact(s)</a:t>
            </a:r>
            <a:endParaRPr lang="en-US" sz="2000" dirty="0"/>
          </a:p>
        </p:txBody>
      </p:sp>
      <p:sp>
        <p:nvSpPr>
          <p:cNvPr id="8" name="Text 5"/>
          <p:cNvSpPr/>
          <p:nvPr/>
        </p:nvSpPr>
        <p:spPr>
          <a:xfrm>
            <a:off x="566928" y="3300984"/>
            <a:ext cx="5779008" cy="2999232"/>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Contact us</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Americas 			 +1 800 597 1344</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Asia-Pacific 		 +60 4 296 1125</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Europe, Middle East, Africa 	 +44 (0) 203 367 0681</a:t>
            </a:r>
            <a:endParaRPr lang="en-US" sz="2000" dirty="0"/>
          </a:p>
          <a:p>
            <a:pPr algn="l" indent="0" marL="0">
              <a:spcAft>
                <a:spcPts val="600"/>
              </a:spcAft>
              <a:buNone/>
            </a:pPr>
            <a:r>
              <a:rPr lang="en-US" sz="2000" dirty="0">
                <a:solidFill>
                  <a:srgbClr val="FFFFFF"/>
                </a:solidFill>
                <a:latin typeface="Arial" pitchFamily="34" charset="0"/>
                <a:ea typeface="Arial" pitchFamily="34" charset="-122"/>
                <a:cs typeface="Arial" pitchFamily="34" charset="-120"/>
              </a:rPr>
              <a:t> </a:t>
            </a:r>
            <a:endParaRPr lang="en-US" sz="2000" dirty="0"/>
          </a:p>
          <a:p>
            <a:pPr algn="l" indent="0" marL="0">
              <a:buNone/>
            </a:pPr>
            <a:r>
              <a:rPr lang="en-US" sz="1600" dirty="0">
                <a:solidFill>
                  <a:srgbClr val="0F82AF"/>
                </a:solidFill>
                <a:latin typeface="Arial" pitchFamily="34" charset="0"/>
                <a:ea typeface="Arial" pitchFamily="34" charset="-122"/>
                <a:cs typeface="Arial" pitchFamily="34" charset="-120"/>
              </a:rPr>
              <a:t>www.spglobal.com/en/enterprise/about/contact-us.html</a:t>
            </a:r>
            <a:endParaRPr lang="en-US" sz="2000" dirty="0"/>
          </a:p>
          <a:p>
            <a:pPr algn="l" indent="0" marL="0">
              <a:buNone/>
            </a:pPr>
            <a:r>
              <a:rPr lang="en-US" sz="1600" dirty="0">
                <a:solidFill>
                  <a:srgbClr val="0F82AF"/>
                </a:solidFill>
                <a:latin typeface="Arial" pitchFamily="34" charset="0"/>
                <a:ea typeface="Arial" pitchFamily="34" charset="-122"/>
                <a:cs typeface="Arial" pitchFamily="34" charset="-120"/>
              </a:rPr>
              <a:t>www.spglobal.com</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5779008" cy="914400"/>
        </p:xfrm>
        <a:graphic>
          <a:graphicData uri="http://schemas.openxmlformats.org/drawingml/2006/table">
            <a:tbl>
              <a:tblPr/>
              <a:tblGrid>
                <a:gridCol w="2889504"/>
                <a:gridCol w="2889504"/>
              </a:tblGrid>
              <a:tr h="0">
                <a:tc>
                  <a:txBody>
                    <a:bodyPr/>
                    <a:lstStyle/>
                    <a:p>
                      <a:pPr indent="0" marL="0">
                        <a:buNone/>
                      </a:pPr>
                      <a:r>
                        <a:rPr lang="en-US" sz="1800" dirty="0">
                          <a:solidFill>
                            <a:srgbClr val="FFFFFF"/>
                          </a:solidFill>
                          <a:latin typeface="Arial" pitchFamily="34" charset="0"/>
                          <a:ea typeface="Arial" pitchFamily="34" charset="-122"/>
                          <a:cs typeface="Arial" pitchFamily="34" charset="-120"/>
                        </a:rPr>
                        <a:t>Mizan Bin abdul rahman</a:t>
                      </a:r>
                      <a:endParaRPr lang="en-US" sz="18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400" dirty="0">
                          <a:solidFill>
                            <a:srgbClr val="FFFFFF"/>
                          </a:solidFill>
                          <a:latin typeface="Arial" pitchFamily="34" charset="0"/>
                          <a:ea typeface="Arial" pitchFamily="34" charset="-122"/>
                          <a:cs typeface="Arial" pitchFamily="34" charset="-120"/>
                        </a:rPr>
                        <a:t>mizan.binabdulrahman@spglobal.com</a:t>
                      </a:r>
                      <a:endParaRPr lang="en-US" sz="14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18288" marR="36576" marT="45720" marB="45720">
                    <a:lnL w="0" cap="flat" cmpd="sng" algn="ctr">
                      <a:noFill/>
                    </a:lnL>
                    <a:lnR w="0" cap="flat" cmpd="sng" algn="ctr">
                      <a:noFill/>
                    </a:lnR>
                    <a:lnT w="0" cap="flat" cmpd="sng" algn="ctr">
                      <a:noFill/>
                    </a:lnT>
                    <a:lnB w="0" cap="flat" cmpd="sng" algn="ctr">
                      <a:noFill/>
                    </a:lnB>
                    <a:solidFill>
                      <a:srgbClr val="000000"/>
                    </a:solidFill>
                  </a:tcPr>
                </a:tc>
              </a:tr>
            </a:tbl>
          </a:graphicData>
        </a:graphic>
      </p:graphicFrame>
      <p:pic>
        <p:nvPicPr>
          <p:cNvPr id="10" name="Image 1" descr="https://snp-mediaportal.qbank.se/assets/deployedFiles/fd6ac17e8cb753e1865b09a3b5a17939.png">    </p:cNvPr>
          <p:cNvPicPr>
            <a:picLocks noChangeAspect="1"/>
          </p:cNvPicPr>
          <p:nvPr/>
        </p:nvPicPr>
        <p:blipFill>
          <a:blip r:embed="rId2"/>
          <a:stretch>
            <a:fillRect/>
          </a:stretch>
        </p:blipFill>
        <p:spPr>
          <a:xfrm>
            <a:off x="466344" y="6281928"/>
            <a:ext cx="1572768" cy="557784"/>
          </a:xfrm>
          <a:prstGeom prst="rect">
            <a:avLst/>
          </a:prstGeom>
        </p:spPr>
      </p:pic>
      <p:sp>
        <p:nvSpPr>
          <p:cNvPr id="11" name="Text 1"/>
          <p:cNvSpPr/>
          <p:nvPr>
            <p:ph idx="102" hasCustomPrompt="1"/>
          </p:nvPr>
        </p:nvSpPr>
        <p:spPr>
          <a:xfrm>
            <a:off x="11320272" y="6565392"/>
            <a:ext cx="310896" cy="219456"/>
          </a:xfrm>
          <a:prstGeom prst="rect">
            <a:avLst/>
          </a:prstGeom>
          <a:noFill/>
          <a:ln/>
        </p:spPr>
        <p:txBody>
          <a:bodyPr wrap="square" rtlCol="0" anchor="ctr"/>
          <a:lstStyle/>
          <a:p>
            <a:pPr algn="r" indent="0" marL="0">
              <a:buNone/>
            </a:pPr>
            <a:endParaRPr lang="en-US" sz="700" dirty="0"/>
          </a:p>
        </p:txBody>
      </p:sp>
      <p:sp>
        <p:nvSpPr>
          <p:cNvPr id="12" name="Text 1"/>
          <p:cNvSpPr/>
          <p:nvPr>
            <p:ph idx="103" type="body" hasCustomPrompt="1"/>
          </p:nvPr>
        </p:nvSpPr>
        <p:spPr>
          <a:xfrm>
            <a:off x="6099048" y="0"/>
            <a:ext cx="5532120" cy="320040"/>
          </a:xfrm>
          <a:prstGeom prst="rect">
            <a:avLst/>
          </a:prstGeom>
          <a:noFill/>
          <a:ln/>
        </p:spPr>
        <p:txBody>
          <a:bodyPr wrap="square" rtlCol="0" anchor="ctr"/>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hasCustomPrompt="1"/>
          </p:nvPr>
        </p:nvSpPr>
        <p:spPr>
          <a:xfrm>
            <a:off x="11320272" y="6565392"/>
            <a:ext cx="310896"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7</a:t>
            </a:r>
            <a:endParaRPr lang="en-US" sz="700" dirty="0"/>
          </a:p>
        </p:txBody>
      </p:sp>
      <p:sp>
        <p:nvSpPr>
          <p:cNvPr id="3" name="Text 1"/>
          <p:cNvSpPr/>
          <p:nvPr/>
        </p:nvSpPr>
        <p:spPr>
          <a:xfrm>
            <a:off x="566928" y="347472"/>
            <a:ext cx="11064240" cy="457200"/>
          </a:xfrm>
          <a:prstGeom prst="rect">
            <a:avLst/>
          </a:prstGeom>
          <a:noFill/>
          <a:ln/>
        </p:spPr>
        <p:txBody>
          <a:bodyPr wrap="square" lIns="0" tIns="0" rIns="0" bIns="0" rtlCol="0" anchor="t"/>
          <a:lstStyle/>
          <a:p>
            <a:pPr algn="l" indent="0" marL="0">
              <a:buNone/>
            </a:pPr>
            <a:r>
              <a:rPr lang="en-US" sz="2400" dirty="0">
                <a:solidFill>
                  <a:srgbClr val="000000"/>
                </a:solidFill>
                <a:latin typeface="Arial" pitchFamily="34" charset="0"/>
                <a:ea typeface="Arial" pitchFamily="34" charset="-122"/>
                <a:cs typeface="Arial" pitchFamily="34" charset="-120"/>
              </a:rPr>
              <a:t>Best practices for creating PPTs using the PPT Generator Spark</a:t>
            </a:r>
            <a:endParaRPr lang="en-US" sz="2400" dirty="0"/>
          </a:p>
        </p:txBody>
      </p:sp>
      <p:sp>
        <p:nvSpPr>
          <p:cNvPr id="4" name="Text 2"/>
          <p:cNvSpPr/>
          <p:nvPr/>
        </p:nvSpPr>
        <p:spPr>
          <a:xfrm>
            <a:off x="566928" y="1261872"/>
            <a:ext cx="11064240" cy="4434840"/>
          </a:xfrm>
          <a:prstGeom prst="rect">
            <a:avLst/>
          </a:prstGeom>
          <a:noFill/>
          <a:ln/>
        </p:spPr>
        <p:txBody>
          <a:bodyPr wrap="square" lIns="0" tIns="0" rIns="0" bIns="0" rtlCol="0" anchor="t"/>
          <a:lstStyle/>
          <a:p>
            <a:pPr algn="l" marL="177800" indent="-177800">
              <a:spcAft>
                <a:spcPts val="600"/>
              </a:spcAft>
              <a:buSzPct val="100000"/>
              <a:buFont typeface="+mj-lt"/>
              <a:buAutoNum type="arabicPeriod" startAt="1"/>
            </a:pPr>
            <a:r>
              <a:rPr lang="en-US" sz="1400" b="1" dirty="0">
                <a:solidFill>
                  <a:srgbClr val="000000"/>
                </a:solidFill>
                <a:latin typeface="Arial" pitchFamily="34" charset="0"/>
                <a:ea typeface="Arial" pitchFamily="34" charset="-122"/>
                <a:cs typeface="Arial" pitchFamily="34" charset="-120"/>
              </a:rPr>
              <a:t>Use S&amp;P Global grounded data only</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Always ensure the data and info you feed into or pull from AI are from verified, S&amp;P Global sources. No random internet stats — keep it legit and reliable.
</a:t>
            </a:r>
            <a:pPr algn="l" marL="177800" indent="-177800">
              <a:spcAft>
                <a:spcPts val="600"/>
              </a:spcAft>
              <a:buSzPct val="100000"/>
              <a:buFont typeface="+mj-lt"/>
              <a:buAutoNum type="arabicPeriod" startAt="2"/>
            </a:pPr>
            <a:r>
              <a:rPr lang="en-US" sz="1400" b="1" dirty="0">
                <a:solidFill>
                  <a:srgbClr val="000000"/>
                </a:solidFill>
                <a:latin typeface="Arial" pitchFamily="34" charset="0"/>
                <a:ea typeface="Arial" pitchFamily="34" charset="-122"/>
                <a:cs typeface="Arial" pitchFamily="34" charset="-120"/>
              </a:rPr>
              <a:t>Review every slide thoroughly</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AI can be cool, but it’s not perfect. Check all facts, figures and statements carefully. Make sure everything is accurate, up-to-date and aligns with our brand voice.
</a:t>
            </a:r>
            <a:pPr algn="l" marL="177800" indent="-177800">
              <a:spcAft>
                <a:spcPts val="600"/>
              </a:spcAft>
              <a:buSzPct val="100000"/>
              <a:buFont typeface="+mj-lt"/>
              <a:buAutoNum type="arabicPeriod" startAt="3"/>
            </a:pPr>
            <a:r>
              <a:rPr lang="en-US" sz="1400" b="1" dirty="0">
                <a:solidFill>
                  <a:srgbClr val="000000"/>
                </a:solidFill>
                <a:latin typeface="Arial" pitchFamily="34" charset="0"/>
                <a:ea typeface="Arial" pitchFamily="34" charset="-122"/>
                <a:cs typeface="Arial" pitchFamily="34" charset="-120"/>
              </a:rPr>
              <a:t>Cut the fluff</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Remove extra or unnecessary words, jargon or filler. Keep your slides crisp, clear and easy to understand — less is more!
</a:t>
            </a:r>
            <a:pPr algn="l" marL="177800" indent="-177800">
              <a:spcAft>
                <a:spcPts val="600"/>
              </a:spcAft>
              <a:buSzPct val="100000"/>
              <a:buFont typeface="+mj-lt"/>
              <a:buAutoNum type="arabicPeriod" startAt="4"/>
            </a:pPr>
            <a:r>
              <a:rPr lang="en-US" sz="1400" b="1" dirty="0">
                <a:solidFill>
                  <a:srgbClr val="000000"/>
                </a:solidFill>
                <a:latin typeface="Arial" pitchFamily="34" charset="0"/>
                <a:ea typeface="Arial" pitchFamily="34" charset="-122"/>
                <a:cs typeface="Arial" pitchFamily="34" charset="-120"/>
              </a:rPr>
              <a:t>Reusing slides</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If you need to reuse these slides, paste them into your deck using the “Keep source formatting” option.
</a:t>
            </a:r>
            <a:pPr algn="l" marL="177800" indent="-177800">
              <a:spcAft>
                <a:spcPts val="600"/>
              </a:spcAft>
              <a:buSzPct val="100000"/>
              <a:buFont typeface="+mj-lt"/>
              <a:buAutoNum type="arabicPeriod" startAt="5"/>
            </a:pPr>
            <a:r>
              <a:rPr lang="en-US" sz="1400" b="1" dirty="0">
                <a:solidFill>
                  <a:srgbClr val="000000"/>
                </a:solidFill>
                <a:latin typeface="Arial" pitchFamily="34" charset="0"/>
                <a:ea typeface="Arial" pitchFamily="34" charset="-122"/>
                <a:cs typeface="Arial" pitchFamily="34" charset="-120"/>
              </a:rPr>
              <a:t>Adding more visuals</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If you want to add Smart Art and/or PowerPoint charts to your slides, you must </a:t>
            </a:r>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install the S&amp;P Global theme colors</a:t>
            </a: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 to ensure they are fully compliant. You can also copy and paste from </a:t>
            </a:r>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our branded SmartArt deck.
</a:t>
            </a:r>
            <a:pPr algn="l" marL="177800" indent="-177800">
              <a:spcAft>
                <a:spcPts val="600"/>
              </a:spcAft>
              <a:buSzPct val="100000"/>
              <a:buFont typeface="+mj-lt"/>
              <a:buAutoNum type="arabicPeriod" startAt="6"/>
            </a:pPr>
            <a:r>
              <a:rPr lang="en-US" sz="1400" b="1" dirty="0">
                <a:solidFill>
                  <a:srgbClr val="000000"/>
                </a:solidFill>
                <a:latin typeface="Arial" pitchFamily="34" charset="0"/>
                <a:ea typeface="Arial" pitchFamily="34" charset="-122"/>
                <a:cs typeface="Arial" pitchFamily="34" charset="-120"/>
              </a:rPr>
              <a:t>Send to Editorial, Design &amp; Publishing (EDP) for pro review</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Before finalizing, send your deck to the EDP team (check the Resources slide for contact info). They’ll help with copy edits, design polish and compliance checks.</a:t>
            </a:r>
            <a:endParaRPr lang="en-US" sz="1400" dirty="0"/>
          </a:p>
        </p:txBody>
      </p:sp>
      <p:sp>
        <p:nvSpPr>
          <p:cNvPr id="5" name="Text 1"/>
          <p:cNvSpPr/>
          <p:nvPr>
            <p:ph idx="103" type="body" hasCustomPrompt="1"/>
          </p:nvPr>
        </p:nvSpPr>
        <p:spPr>
          <a:xfrm>
            <a:off x="6099048" y="0"/>
            <a:ext cx="5532120" cy="320040"/>
          </a:xfrm>
          <a:prstGeom prst="rect">
            <a:avLst/>
          </a:prstGeom>
          <a:noFill/>
          <a:ln/>
        </p:spPr>
        <p:txBody>
          <a:bodyPr wrap="square" rtlCol="0" anchor="ctr"/>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hasCustomPrompt="1"/>
          </p:nvPr>
        </p:nvSpPr>
        <p:spPr>
          <a:xfrm>
            <a:off x="11320272" y="6565392"/>
            <a:ext cx="310896"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p>
        </p:txBody>
      </p:sp>
      <p:sp>
        <p:nvSpPr>
          <p:cNvPr id="3" name="Text 1"/>
          <p:cNvSpPr/>
          <p:nvPr/>
        </p:nvSpPr>
        <p:spPr>
          <a:xfrm>
            <a:off x="566928" y="347472"/>
            <a:ext cx="11064240" cy="457200"/>
          </a:xfrm>
          <a:prstGeom prst="rect">
            <a:avLst/>
          </a:prstGeom>
          <a:noFill/>
          <a:ln/>
        </p:spPr>
        <p:txBody>
          <a:bodyPr wrap="square" lIns="0" tIns="0" rIns="0" bIns="0" rtlCol="0" anchor="t"/>
          <a:lstStyle/>
          <a:p>
            <a:pPr algn="l" indent="0" marL="0">
              <a:buNone/>
            </a:pPr>
            <a:r>
              <a:rPr lang="en-US" sz="2400" dirty="0">
                <a:solidFill>
                  <a:srgbClr val="000000"/>
                </a:solidFill>
                <a:latin typeface="Arial" pitchFamily="34" charset="0"/>
                <a:ea typeface="Arial" pitchFamily="34" charset="-122"/>
                <a:cs typeface="Arial" pitchFamily="34" charset="-120"/>
              </a:rPr>
              <a:t>Resources for authors (DELETE BEFORE PUBLISHING/PRESENTING)</a:t>
            </a:r>
            <a:endParaRPr lang="en-US" sz="2400" dirty="0"/>
          </a:p>
        </p:txBody>
      </p:sp>
      <p:sp>
        <p:nvSpPr>
          <p:cNvPr id="4" name="Text 2"/>
          <p:cNvSpPr/>
          <p:nvPr/>
        </p:nvSpPr>
        <p:spPr>
          <a:xfrm>
            <a:off x="566928" y="896112"/>
            <a:ext cx="11064240" cy="283464"/>
          </a:xfrm>
          <a:prstGeom prst="rect">
            <a:avLst/>
          </a:prstGeom>
          <a:noFill/>
          <a:ln/>
        </p:spPr>
        <p:txBody>
          <a:bodyPr wrap="square" lIns="0" tIns="0" rIns="0" bIns="0" rtlCol="0" anchor="t"/>
          <a:lstStyle/>
          <a:p>
            <a:pPr algn="l" indent="0" marL="0">
              <a:buNone/>
            </a:pPr>
            <a:r>
              <a:rPr lang="en-US" sz="1800" dirty="0">
                <a:solidFill>
                  <a:srgbClr val="000000"/>
                </a:solidFill>
                <a:latin typeface="Arial" pitchFamily="34" charset="0"/>
                <a:ea typeface="Arial" pitchFamily="34" charset="-122"/>
                <a:cs typeface="Arial" pitchFamily="34" charset="-120"/>
              </a:rPr>
              <a:t>Refine your PowerPoint with these professional services Editorial, Design &amp; Publishing (EDP) offers:</a:t>
            </a:r>
            <a:endParaRPr lang="en-US" sz="1800" dirty="0"/>
          </a:p>
        </p:txBody>
      </p:sp>
      <p:sp>
        <p:nvSpPr>
          <p:cNvPr id="5" name="Text 3"/>
          <p:cNvSpPr/>
          <p:nvPr/>
        </p:nvSpPr>
        <p:spPr>
          <a:xfrm>
            <a:off x="566928" y="1261872"/>
            <a:ext cx="5029200" cy="4343400"/>
          </a:xfrm>
          <a:prstGeom prst="rect">
            <a:avLst/>
          </a:prstGeom>
          <a:noFill/>
          <a:ln/>
        </p:spPr>
        <p:txBody>
          <a:bodyPr wrap="square" lIns="0" tIns="0" rIns="0" bIns="0" rtlCol="0" anchor="t"/>
          <a:lstStyle/>
          <a:p>
            <a:pPr algn="l" indent="0" marL="0">
              <a:spcAft>
                <a:spcPts val="600"/>
              </a:spcAft>
              <a:buNone/>
            </a:pPr>
            <a:r>
              <a:rPr lang="en-US" sz="1600" b="1" dirty="0">
                <a:solidFill>
                  <a:srgbClr val="000000"/>
                </a:solidFill>
                <a:latin typeface="Arial" pitchFamily="34" charset="0"/>
                <a:ea typeface="Arial" pitchFamily="34" charset="-122"/>
                <a:cs typeface="Arial" pitchFamily="34" charset="-120"/>
              </a:rPr>
              <a:t>Add photos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Approved stock photography</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S&amp;P Global photography guidelines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Request a photo from Getty</a:t>
            </a:r>
            <a:endParaRPr lang="en-US" sz="1600" dirty="0"/>
          </a:p>
          <a:p>
            <a:pPr algn="l" indent="0" marL="0">
              <a:buNone/>
            </a:pPr>
            <a:r>
              <a:rPr lang="en-US" sz="1200" dirty="0">
                <a:solidFill>
                  <a:srgbClr val="000000"/>
                </a:solidFill>
                <a:latin typeface="Arial" pitchFamily="34" charset="0"/>
                <a:ea typeface="Arial" pitchFamily="34" charset="-122"/>
                <a:cs typeface="Arial" pitchFamily="34" charset="-120"/>
              </a:rPr>
              <a:t>Getty image downloads depend on the images meeting S&amp;P Global brand guidelines and being covered by our license agreement. Review available options </a:t>
            </a:r>
            <a:pPr algn="l" indent="0" marL="0">
              <a:spcAft>
                <a:spcPts val="600"/>
              </a:spcAft>
              <a:buNone/>
            </a:pPr>
            <a:r>
              <a:rPr lang="en-US" sz="1200" u="sng" dirty="0">
                <a:solidFill>
                  <a:srgbClr val="0F82A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here</a:t>
            </a:r>
            <a:pPr algn="l" indent="0" marL="0">
              <a:buNone/>
            </a:pPr>
            <a:r>
              <a:rPr lang="en-US" sz="1200" dirty="0">
                <a:solidFill>
                  <a:srgbClr val="000000"/>
                </a:solidFill>
                <a:latin typeface="Arial" pitchFamily="34" charset="0"/>
                <a:ea typeface="Arial" pitchFamily="34" charset="-122"/>
                <a:cs typeface="Arial" pitchFamily="34" charset="-120"/>
              </a:rPr>
              <a:t>.</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Add icons</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Do NOT use the built-in icons in PowerPoint. Instead, use the brand-compliant icons available at the link below.</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Find icons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Iconography guidelines</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Request maps, infographics, icons and visuals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Request design help</a:t>
            </a:r>
            <a:endParaRPr lang="en-US" sz="1600" dirty="0"/>
          </a:p>
        </p:txBody>
      </p:sp>
      <p:sp>
        <p:nvSpPr>
          <p:cNvPr id="6" name="Text 4"/>
          <p:cNvSpPr/>
          <p:nvPr/>
        </p:nvSpPr>
        <p:spPr>
          <a:xfrm>
            <a:off x="6601968" y="1261872"/>
            <a:ext cx="5029200" cy="4937760"/>
          </a:xfrm>
          <a:prstGeom prst="rect">
            <a:avLst/>
          </a:prstGeom>
          <a:noFill/>
          <a:ln/>
        </p:spPr>
        <p:txBody>
          <a:bodyPr wrap="square" lIns="0" tIns="0" rIns="0" bIns="0" rtlCol="0" anchor="t"/>
          <a:lstStyle/>
          <a:p>
            <a:pPr algn="l" indent="0" marL="0">
              <a:buNone/>
            </a:pPr>
            <a:r>
              <a:rPr lang="en-US" sz="1600" b="1" dirty="0">
                <a:solidFill>
                  <a:srgbClr val="000000"/>
                </a:solidFill>
                <a:latin typeface="Arial" pitchFamily="34" charset="0"/>
                <a:ea typeface="Arial" pitchFamily="34" charset="-122"/>
                <a:cs typeface="Arial" pitchFamily="34" charset="-120"/>
              </a:rPr>
              <a:t>Send to editors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Mobility</a:t>
            </a:r>
            <a:endParaRPr lang="en-US" sz="1600" dirty="0"/>
          </a:p>
          <a:p>
            <a:pPr algn="l" indent="0" marL="0">
              <a:buNone/>
            </a:pPr>
            <a:r>
              <a:rPr lang="en-US" sz="1400" u="sng" dirty="0">
                <a:solidFill>
                  <a:srgbClr val="0F82AF"/>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Energy/Commodities</a:t>
            </a:r>
            <a:pPr algn="l" indent="0" marL="0">
              <a:buNone/>
            </a:pPr>
            <a:r>
              <a:rPr lang="en-US" sz="1400" dirty="0">
                <a:solidFill>
                  <a:srgbClr val="000000"/>
                </a:solidFill>
                <a:latin typeface="Arial" pitchFamily="34" charset="0"/>
                <a:ea typeface="Arial" pitchFamily="34" charset="-122"/>
                <a:cs typeface="Arial" pitchFamily="34" charset="-120"/>
              </a:rPr>
              <a:t>*</a:t>
            </a:r>
            <a:endParaRPr lang="en-US" sz="1600" dirty="0"/>
          </a:p>
          <a:p>
            <a:pPr algn="l" indent="0" marL="0">
              <a:spcBef>
                <a:spcPts val="600"/>
              </a:spcBef>
              <a:spcAft>
                <a:spcPts val="600"/>
              </a:spcAft>
              <a:buNone/>
            </a:pPr>
            <a:r>
              <a:rPr lang="en-US" sz="1400" u="sng" dirty="0">
                <a:solidFill>
                  <a:srgbClr val="0F82AF"/>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Chemical</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Agribusiness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Global Intelligence and Analytics (GIA), formerly Economics and Country Risk (ECR)</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Maritime &amp; Trade</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Financial Institutions (FI)</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Telecommunications, Media &amp; Technology (TMT)**</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Ratings***</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Sustainable1***</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Get EDP PowerPoint Utility Add-in</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Windows 11 users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I'm not on Windows 11 yet</a:t>
            </a:r>
            <a:endParaRPr lang="en-US" sz="1600" dirty="0"/>
          </a:p>
        </p:txBody>
      </p:sp>
      <p:sp>
        <p:nvSpPr>
          <p:cNvPr id="7" name="Text 5"/>
          <p:cNvSpPr/>
          <p:nvPr/>
        </p:nvSpPr>
        <p:spPr>
          <a:xfrm>
            <a:off x="566928" y="5687568"/>
            <a:ext cx="11064240" cy="521208"/>
          </a:xfrm>
          <a:prstGeom prst="rect">
            <a:avLst/>
          </a:prstGeom>
          <a:noFill/>
          <a:ln/>
        </p:spPr>
        <p:txBody>
          <a:bodyPr wrap="square" lIns="0" tIns="0" rIns="0" bIns="0" rtlCol="0" anchor="b"/>
          <a:lstStyle/>
          <a:p>
            <a:pPr algn="l" indent="0" marL="0">
              <a:buNone/>
            </a:pPr>
            <a:r>
              <a:rPr lang="en-US" sz="700" dirty="0">
                <a:solidFill>
                  <a:srgbClr val="000000"/>
                </a:solidFill>
                <a:latin typeface="Arial" pitchFamily="34" charset="0"/>
                <a:ea typeface="Arial" pitchFamily="34" charset="-122"/>
                <a:cs typeface="Arial" pitchFamily="34" charset="-120"/>
              </a:rPr>
              <a:t>* If your content is published on Platts Connect in the first instance, contact </a:t>
            </a:r>
            <a:pPr algn="l" indent="0" marL="0">
              <a:buNone/>
            </a:pPr>
            <a:r>
              <a:rPr lang="en-US" sz="700" u="sng" dirty="0">
                <a:solidFill>
                  <a:srgbClr val="0F82AF"/>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publish.pira@spglobal.com</a:t>
            </a:r>
            <a:pPr algn="l" indent="0" marL="0">
              <a:spcAft>
                <a:spcPts val="200"/>
              </a:spcAft>
              <a:buNone/>
            </a:pPr>
            <a:r>
              <a:rPr lang="en-US" sz="700" dirty="0">
                <a:solidFill>
                  <a:srgbClr val="000000"/>
                </a:solidFill>
                <a:latin typeface="Arial" pitchFamily="34" charset="0"/>
                <a:ea typeface="Arial" pitchFamily="34" charset="-122"/>
                <a:cs typeface="Arial" pitchFamily="34" charset="-120"/>
              </a:rPr>
              <a:t>.</a:t>
            </a:r>
            <a:endParaRPr lang="en-US" sz="700" dirty="0"/>
          </a:p>
          <a:p>
            <a:pPr algn="l" indent="0" marL="0">
              <a:buNone/>
            </a:pPr>
            <a:r>
              <a:rPr lang="en-US" sz="700" u="sng" dirty="0">
                <a:solidFill>
                  <a:srgbClr val="0F82AF"/>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 451 Editorial</a:t>
            </a:r>
            <a:pPr algn="l" indent="0" marL="0">
              <a:buNone/>
            </a:pPr>
            <a:r>
              <a:rPr lang="en-US" sz="700" dirty="0">
                <a:solidFill>
                  <a:srgbClr val="000000"/>
                </a:solidFill>
                <a:latin typeface="Arial" pitchFamily="34" charset="0"/>
                <a:ea typeface="Arial" pitchFamily="34" charset="-122"/>
                <a:cs typeface="Arial" pitchFamily="34" charset="-120"/>
              </a:rPr>
              <a:t> | </a:t>
            </a:r>
            <a:pPr algn="l" indent="0" marL="0">
              <a:spcAft>
                <a:spcPts val="200"/>
              </a:spcAft>
              <a:buNone/>
            </a:pPr>
            <a:r>
              <a:rPr lang="en-US" sz="700" u="sng" dirty="0">
                <a:solidFill>
                  <a:srgbClr val="0F82AF"/>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Research Editorial (CapIQ Pro)</a:t>
            </a:r>
            <a:endParaRPr lang="en-US" sz="700" dirty="0"/>
          </a:p>
          <a:p>
            <a:pPr algn="l" indent="0" marL="0">
              <a:buNone/>
            </a:pPr>
            <a:r>
              <a:rPr lang="en-US" sz="700" dirty="0">
                <a:solidFill>
                  <a:srgbClr val="000000"/>
                </a:solidFill>
                <a:latin typeface="Arial" pitchFamily="34" charset="0"/>
                <a:ea typeface="Arial" pitchFamily="34" charset="-122"/>
                <a:cs typeface="Arial" pitchFamily="34" charset="-120"/>
              </a:rPr>
              <a:t>*** While EDP does not provide editing services specifically for the Ratings and Sustainable1 divisions, we do offer cross-divisional content editing services. For more details, contact </a:t>
            </a:r>
            <a:pPr algn="l" indent="0" marL="0">
              <a:buNone/>
            </a:pPr>
            <a:r>
              <a:rPr lang="en-US" sz="700" u="sng" dirty="0">
                <a:solidFill>
                  <a:srgbClr val="0F82AF"/>
                </a:solidFill>
                <a:latin typeface="Arial" pitchFamily="34" charset="0"/>
                <a:ea typeface="Arial" pitchFamily="34" charset="-122"/>
                <a:cs typeface="Arial" pitchFamily="34" charset="-120"/>
                <a:hlinkClick r:id="rId20" invalidUrl="" action="" tgtFrame="" tooltip="" history="1" highlightClick="0" endSnd="0">
                  <a:extLst>
                    <a:ext uri="{A12FA001-AC4F-418D-AE19-62706E023703}">
                      <ahyp:hlinkClr xmlns:ahyp="http://schemas.microsoft.com/office/drawing/2018/hyperlinkcolor" val="tx"/>
                    </a:ext>
                  </a:extLst>
                </a:hlinkClick>
              </a:rPr>
              <a:t>mark.pengelly@spglobal.com</a:t>
            </a:r>
            <a:pPr algn="l" indent="0" marL="0">
              <a:spcAft>
                <a:spcPts val="200"/>
              </a:spcAft>
              <a:buNone/>
            </a:pPr>
            <a:r>
              <a:rPr lang="en-US" sz="700" dirty="0">
                <a:solidFill>
                  <a:srgbClr val="000000"/>
                </a:solidFill>
                <a:latin typeface="Arial" pitchFamily="34" charset="0"/>
                <a:ea typeface="Arial" pitchFamily="34" charset="-122"/>
                <a:cs typeface="Arial" pitchFamily="34" charset="-120"/>
              </a:rPr>
              <a:t>.</a:t>
            </a:r>
            <a:endParaRPr lang="en-US" sz="700" dirty="0"/>
          </a:p>
          <a:p>
            <a:pPr algn="l" indent="0" marL="0">
              <a:spcAft>
                <a:spcPts val="200"/>
              </a:spcAft>
              <a:buNone/>
            </a:pPr>
            <a:r>
              <a:rPr lang="en-US" sz="700" dirty="0">
                <a:solidFill>
                  <a:srgbClr val="000000"/>
                </a:solidFill>
                <a:latin typeface="Arial" pitchFamily="34" charset="0"/>
                <a:ea typeface="Arial" pitchFamily="34" charset="-122"/>
                <a:cs typeface="Arial" pitchFamily="34" charset="-120"/>
              </a:rPr>
              <a:t>Authentication required to access certain links.</a:t>
            </a:r>
            <a:endParaRPr lang="en-US" sz="700" dirty="0"/>
          </a:p>
        </p:txBody>
      </p:sp>
      <p:sp>
        <p:nvSpPr>
          <p:cNvPr id="8" name="Text 1"/>
          <p:cNvSpPr/>
          <p:nvPr>
            <p:ph idx="103" type="body" hasCustomPrompt="1"/>
          </p:nvPr>
        </p:nvSpPr>
        <p:spPr>
          <a:xfrm>
            <a:off x="6099048" y="0"/>
            <a:ext cx="5532120" cy="320040"/>
          </a:xfrm>
          <a:prstGeom prst="rect">
            <a:avLst/>
          </a:prstGeom>
          <a:noFill/>
          <a:ln/>
        </p:spPr>
        <p:txBody>
          <a:bodyPr wrap="square" rtlCol="0" anchor="ctr"/>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hasCustomPrompt="1"/>
          </p:nvPr>
        </p:nvSpPr>
        <p:spPr>
          <a:xfrm>
            <a:off x="11320272" y="6565392"/>
            <a:ext cx="310896"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8</a:t>
            </a:r>
            <a:endParaRPr lang="en-US" sz="700" dirty="0"/>
          </a:p>
        </p:txBody>
      </p:sp>
    </p:spTree>
  </p:cSld>
  <p:clrMapOvr>
    <a:masterClrMapping/>
  </p:clrMapOvr>
</p:sld>
</file>

<file path=ppt/theme/theme1.xml><?xml version="1.0" encoding="utf-8"?>
<a:theme xmlns:a="http://schemas.openxmlformats.org/drawingml/2006/main" name="S-P Global EDP 2026 16-9">
  <a:themeElements>
    <a:clrScheme name="Office">
      <a:dk1>
        <a:sysClr val="windowText" lastClr="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Arial</vt:lpstr>
      <vt:lpstr>S-P Global EDP 2026 16-9</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2026-01-14T12:23:38Z</dcterms:created>
  <dcterms:modified xsi:type="dcterms:W3CDTF">2026-01-14T12:23:38Z</dcterms:modified>
</cp:coreProperties>
</file>